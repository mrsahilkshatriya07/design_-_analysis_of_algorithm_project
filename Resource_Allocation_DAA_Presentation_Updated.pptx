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CA6BED0-A59E-F244-ABA0-FA837128DA6F}">
          <p14:sldIdLst>
            <p14:sldId id="256"/>
            <p14:sldId id="257"/>
            <p14:sldId id="258"/>
            <p14:sldId id="259"/>
          </p14:sldIdLst>
        </p14:section>
        <p14:section name="Approach" id="{C9591CA1-24BF-2985-F4FC-17732C2722ED}">
          <p14:sldIdLst>
            <p14:sldId id="260"/>
            <p14:sldId id="261"/>
            <p14:sldId id="262"/>
            <p14:sldId id="263"/>
            <p14:sldId id="264"/>
          </p14:sldIdLst>
        </p14:section>
        <p14:section name="Evaluation" id="{3951EF5A-4DF0-14D7-94C1-56CACA890F85}">
          <p14:sldIdLst>
            <p14:sldId id="265"/>
            <p14:sldId id="266"/>
            <p14:sldId id="267"/>
            <p14:sldId id="268"/>
          </p14:sldIdLst>
        </p14:section>
        <p14:section name="Wrap-up" id="{3CB810D4-6E35-6DD7-58B9-899A25A0AD9F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83249"/>
                </a:solidFill>
                <a:latin typeface="+mn-lt"/>
              </a:defRPr>
            </a:pPr>
            <a:r>
              <a:rPr lang="en-US" sz="1000" b="0" i="0" u="none" strike="noStrike">
                <a:solidFill>
                  <a:srgbClr val="183249"/>
                </a:solidFill>
                <a:latin typeface="+mn-lt"/>
              </a:rPr>
              <a:t>Input size vs time (ms, log scale)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Backtracking</c:v>
                </c:pt>
              </c:strCache>
            </c:strRef>
          </c:tx>
          <c:spPr>
            <a:ln w="25400" cap="flat">
              <a:solidFill>
                <a:srgbClr val="C8553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8553D"/>
              </a:solidFill>
              <a:ln w="9525" cap="flat">
                <a:solidFill>
                  <a:srgbClr val="C8553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  <c:pt idx="5">
                  <c:v>500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0.1924198900000107</c:v>
                </c:pt>
                <c:pt idx="1">
                  <c:v>3.4293907971014534</c:v>
                </c:pt>
                <c:pt idx="2">
                  <c:v>95.486220666666455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BA8-4839-A12C-357E1E2DB3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Greedy</c:v>
                </c:pt>
              </c:strCache>
            </c:strRef>
          </c:tx>
          <c:spPr>
            <a:ln w="25400" cap="flat">
              <a:solidFill>
                <a:srgbClr val="E8A33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  <c:pt idx="5">
                  <c:v>500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3.8402599999898257E-3</c:v>
                </c:pt>
                <c:pt idx="1">
                  <c:v>3.5458500000018489E-3</c:v>
                </c:pt>
                <c:pt idx="2">
                  <c:v>3.5338300000020695E-3</c:v>
                </c:pt>
                <c:pt idx="3">
                  <c:v>8.6863699999994992E-3</c:v>
                </c:pt>
                <c:pt idx="4">
                  <c:v>1.8206329999994608E-2</c:v>
                </c:pt>
                <c:pt idx="5">
                  <c:v>0.10264581999999578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BA8-4839-A12C-357E1E2DB3C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DP</c:v>
                </c:pt>
              </c:strCache>
            </c:strRef>
          </c:tx>
          <c:spPr>
            <a:ln w="25400" cap="flat">
              <a:solidFill>
                <a:srgbClr val="1E8F7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8F7E"/>
              </a:solidFill>
              <a:ln w="9525" cap="flat">
                <a:solidFill>
                  <a:srgbClr val="1E8F7E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  <c:pt idx="5">
                  <c:v>500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0.12915783000000403</c:v>
                </c:pt>
                <c:pt idx="1">
                  <c:v>0.18866128999999177</c:v>
                </c:pt>
                <c:pt idx="2">
                  <c:v>0.36238604999999424</c:v>
                </c:pt>
                <c:pt idx="3">
                  <c:v>3.4641022000000192</c:v>
                </c:pt>
                <c:pt idx="4">
                  <c:v>16.412211052631573</c:v>
                </c:pt>
                <c:pt idx="5">
                  <c:v>381.93172399999929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BA8-4839-A12C-357E1E2DB3C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Branch and Bound</c:v>
                </c:pt>
              </c:strCache>
            </c:strRef>
          </c:tx>
          <c:spPr>
            <a:ln w="25400" cap="flat">
              <a:solidFill>
                <a:srgbClr val="3F6E8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F6E8F"/>
              </a:solidFill>
              <a:ln w="9525" cap="flat">
                <a:solidFill>
                  <a:srgbClr val="3F6E8F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  <c:pt idx="5">
                  <c:v>500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2.4154279999990536E-2</c:v>
                </c:pt>
                <c:pt idx="1">
                  <c:v>2.1083449999999004E-2</c:v>
                </c:pt>
                <c:pt idx="2">
                  <c:v>4.0337560000001105E-2</c:v>
                </c:pt>
                <c:pt idx="3">
                  <c:v>0.13972761999999861</c:v>
                </c:pt>
                <c:pt idx="4">
                  <c:v>0.36798807000000266</c:v>
                </c:pt>
                <c:pt idx="5">
                  <c:v>6.1764127818181889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BA8-4839-A12C-357E1E2DB3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5C6B7A"/>
                    </a:solidFill>
                    <a:latin typeface="+mn-lt"/>
                  </a:defRPr>
                </a:pPr>
                <a:r>
                  <a:rPr lang="en-US" sz="800" b="0" i="0" u="none" strike="noStrike">
                    <a:solidFill>
                      <a:srgbClr val="5C6B7A"/>
                    </a:solidFill>
                    <a:latin typeface="+mn-lt"/>
                  </a:rPr>
                  <a:t>Number of requests (n)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+mn-lt"/>
              </a:defRPr>
            </a:pPr>
            <a:endParaRPr lang="en-AI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logBase val="10"/>
          <c:orientation val="minMax"/>
          <c:max val="1000"/>
          <c:min val="1E-3"/>
        </c:scaling>
        <c:delete val="0"/>
        <c:axPos val="l"/>
        <c:majorGridlines>
          <c:spPr>
            <a:ln w="6350" cap="flat">
              <a:solidFill>
                <a:srgbClr val="CBD5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+mn-lt"/>
              </a:defRPr>
            </a:pPr>
            <a:endParaRPr lang="en-AI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C6B7A"/>
              </a:solidFill>
              <a:latin typeface="+mn-lt"/>
              <a:cs typeface="+mn-lt"/>
            </a:defRPr>
          </a:pPr>
          <a:endParaRPr lang="en-AI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2109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group, the topic and the four algorithms compared.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knapsack model: limited budget, requests with cost and benefit.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Real-world uses of the knapsack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objectives, one per theme: model, implement, return, test, verify, analyse.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existing approaches fall short; this motivates comparing four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steps 1 to 4 on the top row, then 5 to 8 on the bottom row (right to left).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Idea, reason for choosing and data structure for each of the four algorithms.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Pseudocode for the four algorithms with their time and space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flows left to right: input, data, algorithms, performance measurement,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Single-file Python program; each algorithm is one function with the same signature.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Screenshots come from the real program run: console input, console results and two graph windows.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Timings were measured on the group machine and will vary with hardware; operation counts do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operation counts match the theory: 2^n for Backtracking, n times W for DP.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limitations: integer costs, DP memory, hardware-dependent timings.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recommendation: exact method when the optimum matters, Greedy for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463040"/>
            <a:ext cx="8321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82880"/>
            <a:ext cx="74980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11480" y="481888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accent6"/>
                </a:solidFill>
              </a:rPr>
              <a:t>Resource Allocation Optimization System  |  DAA Mini Project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29.png"/><Relationship Id="rId4" Type="http://schemas.openxmlformats.org/officeDocument/2006/relationships/image" Target="../media/image24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DI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46888"/>
            <a:ext cx="1005840" cy="914400"/>
          </a:xfrm>
          <a:prstGeom prst="rect">
            <a:avLst/>
          </a:prstGeom>
        </p:spPr>
      </p:pic>
      <p:pic>
        <p:nvPicPr>
          <p:cNvPr id="3" name="Image 1" descr="CVM University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246888"/>
            <a:ext cx="1005840" cy="8321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82880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A.D PATEL INSTITUTE OF TECHNOLOGY</a:t>
            </a:r>
            <a:endParaRPr lang="en-US" sz="1400" dirty="0"/>
          </a:p>
        </p:txBody>
      </p:sp>
      <p:sp>
        <p:nvSpPr>
          <p:cNvPr id="5" name="Text 1"/>
          <p:cNvSpPr txBox="1"/>
          <p:nvPr/>
        </p:nvSpPr>
        <p:spPr>
          <a:xfrm>
            <a:off x="1828800" y="685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(CVM UNIVERSITY)</a:t>
            </a:r>
            <a:endParaRPr lang="en-US" sz="11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4630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Resource Allocation Optimization System</a:t>
            </a:r>
            <a:endParaRPr lang="en-US" sz="2800" dirty="0"/>
          </a:p>
        </p:txBody>
      </p:sp>
      <p:sp>
        <p:nvSpPr>
          <p:cNvPr id="7" name="Text 3"/>
          <p:cNvSpPr txBox="1"/>
          <p:nvPr/>
        </p:nvSpPr>
        <p:spPr>
          <a:xfrm>
            <a:off x="411480" y="21762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</a:rPr>
              <a:t>Comparing Backtracking, Greedy, Dynamic Programming and Branch and Bound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11480" y="26517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Course: Design and Analysis of Algorithms   |   5th Semester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411480" y="2971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Group No.: 12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2148840" y="2971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Faculty: Yamini Dubey</a:t>
            </a:r>
            <a:endParaRPr lang="en-US" sz="1100" dirty="0"/>
          </a:p>
        </p:txBody>
      </p:sp>
      <p:pic>
        <p:nvPicPr>
          <p:cNvPr id="11" name="Image 2" descr="Bar chart with rising trend lin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2331720"/>
            <a:ext cx="1920240" cy="1024128"/>
          </a:xfrm>
          <a:prstGeom prst="rect">
            <a:avLst/>
          </a:prstGeom>
        </p:spPr>
      </p:pic>
      <p:sp>
        <p:nvSpPr>
          <p:cNvPr id="12" name="Member Rana Rudra"/>
          <p:cNvSpPr/>
          <p:nvPr/>
        </p:nvSpPr>
        <p:spPr>
          <a:xfrm>
            <a:off x="411480" y="3593592"/>
            <a:ext cx="4114800" cy="493776"/>
          </a:xfrm>
          <a:prstGeom prst="roundRect">
            <a:avLst>
              <a:gd name="adj" fmla="val 11111"/>
            </a:avLst>
          </a:prstGeom>
          <a:solidFill>
            <a:schemeClr val="accent4">
              <a:alpha val="7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48640" y="36576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Rana Rudra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386791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chemeClr val="accent5"/>
                </a:solidFill>
              </a:rPr>
              <a:t>12402080601122</a:t>
            </a:r>
            <a:endParaRPr lang="en-US" sz="850" dirty="0"/>
          </a:p>
        </p:txBody>
      </p:sp>
      <p:sp>
        <p:nvSpPr>
          <p:cNvPr id="15" name="Member Patel Yash"/>
          <p:cNvSpPr/>
          <p:nvPr/>
        </p:nvSpPr>
        <p:spPr>
          <a:xfrm>
            <a:off x="4617720" y="3593592"/>
            <a:ext cx="4114800" cy="493776"/>
          </a:xfrm>
          <a:prstGeom prst="roundRect">
            <a:avLst>
              <a:gd name="adj" fmla="val 11111"/>
            </a:avLst>
          </a:prstGeom>
          <a:solidFill>
            <a:schemeClr val="accent4">
              <a:alpha val="7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754880" y="36576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Patel Yash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4754880" y="386791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chemeClr val="accent5"/>
                </a:solidFill>
              </a:rPr>
              <a:t>12402080601157</a:t>
            </a:r>
            <a:endParaRPr lang="en-US" sz="850" dirty="0"/>
          </a:p>
        </p:txBody>
      </p:sp>
      <p:sp>
        <p:nvSpPr>
          <p:cNvPr id="18" name="Member Kshatriya Sahil"/>
          <p:cNvSpPr/>
          <p:nvPr/>
        </p:nvSpPr>
        <p:spPr>
          <a:xfrm>
            <a:off x="411480" y="4160520"/>
            <a:ext cx="4114800" cy="493776"/>
          </a:xfrm>
          <a:prstGeom prst="roundRect">
            <a:avLst>
              <a:gd name="adj" fmla="val 11111"/>
            </a:avLst>
          </a:prstGeom>
          <a:solidFill>
            <a:schemeClr val="accent4">
              <a:alpha val="7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48640" y="4224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Kshatriya Sahil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44348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chemeClr val="accent5"/>
                </a:solidFill>
              </a:rPr>
              <a:t>12502080603017</a:t>
            </a:r>
            <a:endParaRPr lang="en-US" sz="850" dirty="0"/>
          </a:p>
        </p:txBody>
      </p:sp>
      <p:sp>
        <p:nvSpPr>
          <p:cNvPr id="21" name="Member Raj Yashpalsinh"/>
          <p:cNvSpPr/>
          <p:nvPr/>
        </p:nvSpPr>
        <p:spPr>
          <a:xfrm>
            <a:off x="4617720" y="4160520"/>
            <a:ext cx="4114800" cy="493776"/>
          </a:xfrm>
          <a:prstGeom prst="roundRect">
            <a:avLst>
              <a:gd name="adj" fmla="val 11111"/>
            </a:avLst>
          </a:prstGeom>
          <a:solidFill>
            <a:schemeClr val="accent4">
              <a:alpha val="7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754880" y="4224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Raj Yashpalsinh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4754880" y="44348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chemeClr val="accent5"/>
                </a:solidFill>
              </a:rPr>
              <a:t>12502080603020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82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Problem Statement</a:t>
            </a:r>
            <a:endParaRPr lang="en-US" sz="2600" dirty="0"/>
          </a:p>
        </p:txBody>
      </p:sp>
      <p:sp>
        <p:nvSpPr>
          <p:cNvPr id="3" name="Topic badge"/>
          <p:cNvSpPr/>
          <p:nvPr/>
        </p:nvSpPr>
        <p:spPr>
          <a:xfrm>
            <a:off x="8302752" y="2377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Topic icon" descr="Top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924" y="329916"/>
            <a:ext cx="199705" cy="199705"/>
          </a:xfrm>
          <a:prstGeom prst="rect">
            <a:avLst/>
          </a:prstGeom>
        </p:spPr>
      </p:pic>
      <p:sp>
        <p:nvSpPr>
          <p:cNvPr id="5" name="Problem"/>
          <p:cNvSpPr/>
          <p:nvPr/>
        </p:nvSpPr>
        <p:spPr>
          <a:xfrm>
            <a:off x="457200" y="91440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6" name="Problem badge"/>
          <p:cNvSpPr/>
          <p:nvPr/>
        </p:nvSpPr>
        <p:spPr>
          <a:xfrm>
            <a:off x="621792" y="105156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Problem icon" descr="Probl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74" y="1139342"/>
            <a:ext cx="190195" cy="19019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15568" y="1051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Problem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21792" y="1536192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Choose which funding requests a college should support so that the total benefit is as large as possible without crossing the limited budget (0/1 knapsack problem).</a:t>
            </a:r>
            <a:endParaRPr lang="en-US" sz="1100" dirty="0"/>
          </a:p>
        </p:txBody>
      </p:sp>
      <p:sp>
        <p:nvSpPr>
          <p:cNvPr id="10" name="Input"/>
          <p:cNvSpPr/>
          <p:nvPr/>
        </p:nvSpPr>
        <p:spPr>
          <a:xfrm>
            <a:off x="4663440" y="91440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11" name="Input badge"/>
          <p:cNvSpPr/>
          <p:nvPr/>
        </p:nvSpPr>
        <p:spPr>
          <a:xfrm>
            <a:off x="4828032" y="1051560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nput icon" descr="Inpu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5814" y="1139342"/>
            <a:ext cx="190195" cy="19019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21808" y="1051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Input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4828032" y="1536192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n funding requests, each with a cost (Rs. lakh) and a benefit score out of 100, plus a total budget W. Default data: 12 campus requests and W = 60.</a:t>
            </a:r>
            <a:endParaRPr lang="en-US" sz="1100" dirty="0"/>
          </a:p>
        </p:txBody>
      </p:sp>
      <p:sp>
        <p:nvSpPr>
          <p:cNvPr id="15" name="Output and Constraints"/>
          <p:cNvSpPr/>
          <p:nvPr/>
        </p:nvSpPr>
        <p:spPr>
          <a:xfrm>
            <a:off x="457200" y="242316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16" name="Output and Constraints badge"/>
          <p:cNvSpPr/>
          <p:nvPr/>
        </p:nvSpPr>
        <p:spPr>
          <a:xfrm>
            <a:off x="621792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Output and Constraints icon" descr="Output and Constraint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74" y="2648102"/>
            <a:ext cx="190195" cy="19019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15568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Output and Constraints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621792" y="3044952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Funded set, total benefit, cost used, operation count and run time. Constraints: total cost ≤ W, and each request is funded fully or not at all.</a:t>
            </a:r>
            <a:endParaRPr lang="en-US" sz="1100" dirty="0"/>
          </a:p>
        </p:txBody>
      </p:sp>
      <p:sp>
        <p:nvSpPr>
          <p:cNvPr id="20" name="Objective"/>
          <p:cNvSpPr/>
          <p:nvPr/>
        </p:nvSpPr>
        <p:spPr>
          <a:xfrm>
            <a:off x="4663440" y="242316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21" name="Objective badge"/>
          <p:cNvSpPr/>
          <p:nvPr/>
        </p:nvSpPr>
        <p:spPr>
          <a:xfrm>
            <a:off x="4828032" y="256032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2" name="Objective icon" descr="Objectiv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5814" y="2648102"/>
            <a:ext cx="190195" cy="19019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321808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4828032" y="3044952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Maximise the total benefit and find which method (Backtracking, Greedy, Dynamic Programming, Branch and Bound) gives the best balance of quality and speed.</a:t>
            </a:r>
            <a:endParaRPr lang="en-US" sz="1100" dirty="0"/>
          </a:p>
        </p:txBody>
      </p:sp>
      <p:sp>
        <p:nvSpPr>
          <p:cNvPr id="25" name="Expected banner"/>
          <p:cNvSpPr/>
          <p:nvPr/>
        </p:nvSpPr>
        <p:spPr>
          <a:xfrm>
            <a:off x="457200" y="3977640"/>
            <a:ext cx="8229600" cy="502920"/>
          </a:xfrm>
          <a:prstGeom prst="roundRect">
            <a:avLst>
              <a:gd name="adj" fmla="val 10909"/>
            </a:avLst>
          </a:prstGeom>
          <a:solidFill>
            <a:schemeClr val="accent2">
              <a:alpha val="2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640080" y="3977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tx2"/>
                </a:solidFill>
              </a:rPr>
              <a:t>Expected: </a:t>
            </a:r>
            <a:r>
              <a:rPr lang="en-US" sz="1150" dirty="0">
                <a:solidFill>
                  <a:schemeClr val="tx2"/>
                </a:solidFill>
              </a:rPr>
              <a:t>an optimal funding plan for any instance, plus a measured comparison of the four methods.</a:t>
            </a:r>
            <a:endParaRPr lang="en-US" sz="11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82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Motivation and Real-World Application</a:t>
            </a:r>
            <a:endParaRPr lang="en-US" sz="2600" dirty="0"/>
          </a:p>
        </p:txBody>
      </p:sp>
      <p:sp>
        <p:nvSpPr>
          <p:cNvPr id="3" name="Topic badge"/>
          <p:cNvSpPr/>
          <p:nvPr/>
        </p:nvSpPr>
        <p:spPr>
          <a:xfrm>
            <a:off x="8302752" y="2377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Topic icon" descr="Top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924" y="329916"/>
            <a:ext cx="199705" cy="199705"/>
          </a:xfrm>
          <a:prstGeom prst="rect">
            <a:avLst/>
          </a:prstGeom>
        </p:spPr>
      </p:pic>
      <p:sp>
        <p:nvSpPr>
          <p:cNvPr id="5" name="Why it matters"/>
          <p:cNvSpPr/>
          <p:nvPr/>
        </p:nvSpPr>
        <p:spPr>
          <a:xfrm>
            <a:off x="457200" y="914400"/>
            <a:ext cx="2651760" cy="260604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6" name="Why it matters badge"/>
          <p:cNvSpPr/>
          <p:nvPr/>
        </p:nvSpPr>
        <p:spPr>
          <a:xfrm>
            <a:off x="640080" y="10972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Why it matters icon" descr="Why it matt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1217981"/>
            <a:ext cx="261518" cy="26151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1031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Money, CPU time and man-hours are always limited. Funding the wrong mix of requests wastes benefit, and small gains add up across many requests.</a:t>
            </a:r>
            <a:endParaRPr lang="en-US" sz="1250" dirty="0"/>
          </a:p>
        </p:txBody>
      </p:sp>
      <p:sp>
        <p:nvSpPr>
          <p:cNvPr id="10" name="Where it is used"/>
          <p:cNvSpPr/>
          <p:nvPr/>
        </p:nvSpPr>
        <p:spPr>
          <a:xfrm>
            <a:off x="3246120" y="914400"/>
            <a:ext cx="2651760" cy="260604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11" name="Where it is used badge"/>
          <p:cNvSpPr/>
          <p:nvPr/>
        </p:nvSpPr>
        <p:spPr>
          <a:xfrm>
            <a:off x="3429000" y="10972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Where it is used icon" descr="Where it is us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701" y="121798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42900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3429000" y="21031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College fund allocation, project selection, CPU and memory sharing, cargo loading, investment portfolios, cloud capacity and production planning.</a:t>
            </a:r>
            <a:endParaRPr lang="en-US" sz="1250" dirty="0"/>
          </a:p>
        </p:txBody>
      </p:sp>
      <p:sp>
        <p:nvSpPr>
          <p:cNvPr id="15" name="Who benefits"/>
          <p:cNvSpPr/>
          <p:nvPr/>
        </p:nvSpPr>
        <p:spPr>
          <a:xfrm>
            <a:off x="6035040" y="914400"/>
            <a:ext cx="2651760" cy="260604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16" name="Who benefits badge"/>
          <p:cNvSpPr/>
          <p:nvPr/>
        </p:nvSpPr>
        <p:spPr>
          <a:xfrm>
            <a:off x="6217920" y="10972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Who benefits icon" descr="Who benefit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8621" y="1217981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1792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Who benefits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6217920" y="21031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College administrators and finance committees, IT and cloud operators, project managers, NGOs with limited funds, and students studying algorithm trade-offs.</a:t>
            </a:r>
            <a:endParaRPr lang="en-US" sz="1250" dirty="0"/>
          </a:p>
        </p:txBody>
      </p:sp>
      <p:sp>
        <p:nvSpPr>
          <p:cNvPr id="20" name="Academic value banner"/>
          <p:cNvSpPr/>
          <p:nvPr/>
        </p:nvSpPr>
        <p:spPr>
          <a:xfrm>
            <a:off x="457200" y="3794760"/>
            <a:ext cx="8229600" cy="64008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1" name="Image 4" descr="Graduation ca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95478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97280" y="37947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Academic value: </a:t>
            </a:r>
            <a:r>
              <a:rPr lang="en-US" sz="1200" dirty="0">
                <a:solidFill>
                  <a:schemeClr val="bg1"/>
                </a:solidFill>
              </a:rPr>
              <a:t>one problem solved with four design paradigms shows where Greedy is enough and where DP or Branch and Bound is needed.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82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Objectives</a:t>
            </a:r>
            <a:endParaRPr lang="en-US" sz="2600" dirty="0"/>
          </a:p>
        </p:txBody>
      </p:sp>
      <p:sp>
        <p:nvSpPr>
          <p:cNvPr id="3" name="Topic badge"/>
          <p:cNvSpPr/>
          <p:nvPr/>
        </p:nvSpPr>
        <p:spPr>
          <a:xfrm>
            <a:off x="8302752" y="2377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Topic icon" descr="Top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924" y="329916"/>
            <a:ext cx="199705" cy="199705"/>
          </a:xfrm>
          <a:prstGeom prst="rect">
            <a:avLst/>
          </a:prstGeom>
        </p:spPr>
      </p:pic>
      <p:sp>
        <p:nvSpPr>
          <p:cNvPr id="5" name="Objective 1"/>
          <p:cNvSpPr/>
          <p:nvPr/>
        </p:nvSpPr>
        <p:spPr>
          <a:xfrm>
            <a:off x="457200" y="914400"/>
            <a:ext cx="4023360" cy="1024128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6" name="Step 1"/>
          <p:cNvSpPr/>
          <p:nvPr/>
        </p:nvSpPr>
        <p:spPr>
          <a:xfrm>
            <a:off x="621792" y="1225296"/>
            <a:ext cx="402336" cy="40233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1792" y="1225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005840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Model the problem as n funding requests, each with a cost and a benefit, and a total budget W (0/1 knapsack).</a:t>
            </a:r>
            <a:endParaRPr lang="en-US" sz="1150" dirty="0"/>
          </a:p>
        </p:txBody>
      </p:sp>
      <p:sp>
        <p:nvSpPr>
          <p:cNvPr id="9" name="Objective 2"/>
          <p:cNvSpPr/>
          <p:nvPr/>
        </p:nvSpPr>
        <p:spPr>
          <a:xfrm>
            <a:off x="4663440" y="914400"/>
            <a:ext cx="4023360" cy="1024128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10" name="Step 2"/>
          <p:cNvSpPr/>
          <p:nvPr/>
        </p:nvSpPr>
        <p:spPr>
          <a:xfrm>
            <a:off x="4828032" y="122529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28032" y="1225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394960" y="1005840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Implement Backtracking, Greedy, Dynamic Programming and Branch and Bound in one program.</a:t>
            </a:r>
            <a:endParaRPr lang="en-US" sz="1150" dirty="0"/>
          </a:p>
        </p:txBody>
      </p:sp>
      <p:sp>
        <p:nvSpPr>
          <p:cNvPr id="13" name="Objective 3"/>
          <p:cNvSpPr/>
          <p:nvPr/>
        </p:nvSpPr>
        <p:spPr>
          <a:xfrm>
            <a:off x="457200" y="2121408"/>
            <a:ext cx="4023360" cy="1024128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14" name="Step 3"/>
          <p:cNvSpPr/>
          <p:nvPr/>
        </p:nvSpPr>
        <p:spPr>
          <a:xfrm>
            <a:off x="621792" y="2432304"/>
            <a:ext cx="402336" cy="40233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" y="2432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2212848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Return the funded set, total benefit, cost used and operation count for any instance.</a:t>
            </a:r>
            <a:endParaRPr lang="en-US" sz="1150" dirty="0"/>
          </a:p>
        </p:txBody>
      </p:sp>
      <p:sp>
        <p:nvSpPr>
          <p:cNvPr id="17" name="Objective 4"/>
          <p:cNvSpPr/>
          <p:nvPr/>
        </p:nvSpPr>
        <p:spPr>
          <a:xfrm>
            <a:off x="4663440" y="2121408"/>
            <a:ext cx="4023360" cy="1024128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18" name="Step 4"/>
          <p:cNvSpPr/>
          <p:nvPr/>
        </p:nvSpPr>
        <p:spPr>
          <a:xfrm>
            <a:off x="4828032" y="2432304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28032" y="2432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394960" y="2212848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Test with n = 10, 15, 20, 50, 100 and 500 requests and record the average run time.</a:t>
            </a:r>
            <a:endParaRPr lang="en-US" sz="1150" dirty="0"/>
          </a:p>
        </p:txBody>
      </p:sp>
      <p:sp>
        <p:nvSpPr>
          <p:cNvPr id="21" name="Objective 5"/>
          <p:cNvSpPr/>
          <p:nvPr/>
        </p:nvSpPr>
        <p:spPr>
          <a:xfrm>
            <a:off x="457200" y="3328416"/>
            <a:ext cx="4023360" cy="1024128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22" name="Step 5"/>
          <p:cNvSpPr/>
          <p:nvPr/>
        </p:nvSpPr>
        <p:spPr>
          <a:xfrm>
            <a:off x="621792" y="3639312"/>
            <a:ext cx="402336" cy="40233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1792" y="3639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188720" y="3419856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Check that the exact methods agree (14 tests) and measure how far Greedy falls below the optimum.</a:t>
            </a:r>
            <a:endParaRPr lang="en-US" sz="1150" dirty="0"/>
          </a:p>
        </p:txBody>
      </p:sp>
      <p:sp>
        <p:nvSpPr>
          <p:cNvPr id="25" name="Objective 6"/>
          <p:cNvSpPr/>
          <p:nvPr/>
        </p:nvSpPr>
        <p:spPr>
          <a:xfrm>
            <a:off x="4663440" y="3328416"/>
            <a:ext cx="4023360" cy="1024128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26" name="Step 6"/>
          <p:cNvSpPr/>
          <p:nvPr/>
        </p:nvSpPr>
        <p:spPr>
          <a:xfrm>
            <a:off x="4828032" y="363931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828032" y="3639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394960" y="3419856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Derive best, average and worst time and space complexity and compare with measured operations.</a:t>
            </a:r>
            <a:endParaRPr lang="en-US" sz="11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82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Existing Approach and Background</a:t>
            </a:r>
            <a:endParaRPr lang="en-US" sz="2600" dirty="0"/>
          </a:p>
        </p:txBody>
      </p:sp>
      <p:sp>
        <p:nvSpPr>
          <p:cNvPr id="3" name="Topic badge"/>
          <p:cNvSpPr/>
          <p:nvPr/>
        </p:nvSpPr>
        <p:spPr>
          <a:xfrm>
            <a:off x="8302752" y="2377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Topic icon" descr="Top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924" y="329916"/>
            <a:ext cx="199705" cy="199705"/>
          </a:xfrm>
          <a:prstGeom prst="rect">
            <a:avLst/>
          </a:prstGeom>
        </p:spPr>
      </p:pic>
      <p:sp>
        <p:nvSpPr>
          <p:cNvPr id="5" name="Manual / first-come funding"/>
          <p:cNvSpPr/>
          <p:nvPr/>
        </p:nvSpPr>
        <p:spPr>
          <a:xfrm>
            <a:off x="457200" y="960120"/>
            <a:ext cx="269748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6" name="Manual / first-come funding badge"/>
          <p:cNvSpPr/>
          <p:nvPr/>
        </p:nvSpPr>
        <p:spPr>
          <a:xfrm>
            <a:off x="594360" y="11430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Manual / first-come funding icon" descr="Manual / first-come fund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1252728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70432" y="108813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Manual / first-come funding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1170432" y="14630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accent6"/>
                </a:solidFill>
              </a:rPr>
              <a:t>Fund requests in the order received</a:t>
            </a:r>
            <a:endParaRPr lang="en-US" sz="950" dirty="0"/>
          </a:p>
        </p:txBody>
      </p:sp>
      <p:sp>
        <p:nvSpPr>
          <p:cNvPr id="10" name="Arrow"/>
          <p:cNvSpPr/>
          <p:nvPr/>
        </p:nvSpPr>
        <p:spPr>
          <a:xfrm>
            <a:off x="3246120" y="1234440"/>
            <a:ext cx="320040" cy="292608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Limitation 1"/>
          <p:cNvSpPr/>
          <p:nvPr/>
        </p:nvSpPr>
        <p:spPr>
          <a:xfrm>
            <a:off x="3657600" y="960120"/>
            <a:ext cx="502920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3822192" y="1014984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Limitation: </a:t>
            </a:r>
            <a:r>
              <a:rPr lang="en-US" sz="1050" dirty="0">
                <a:solidFill>
                  <a:schemeClr val="tx1"/>
                </a:solidFill>
              </a:rPr>
              <a:t>Ignores benefit per rupee, so budget is spent on low-value requests while better ones are left out.</a:t>
            </a:r>
            <a:endParaRPr lang="en-US" sz="1050" dirty="0"/>
          </a:p>
        </p:txBody>
      </p:sp>
      <p:sp>
        <p:nvSpPr>
          <p:cNvPr id="13" name="Backtracking only"/>
          <p:cNvSpPr/>
          <p:nvPr/>
        </p:nvSpPr>
        <p:spPr>
          <a:xfrm>
            <a:off x="457200" y="1965960"/>
            <a:ext cx="269748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14" name="Backtracking only badge"/>
          <p:cNvSpPr/>
          <p:nvPr/>
        </p:nvSpPr>
        <p:spPr>
          <a:xfrm>
            <a:off x="594360" y="214884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Backtracking only icon" descr="Backtracking onl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225856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70432" y="20939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Backtracking only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1170432" y="2468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accent6"/>
                </a:solidFill>
              </a:rPr>
              <a:t>Try every include / exclude choice</a:t>
            </a:r>
            <a:endParaRPr lang="en-US" sz="950" dirty="0"/>
          </a:p>
        </p:txBody>
      </p:sp>
      <p:sp>
        <p:nvSpPr>
          <p:cNvPr id="18" name="Arrow"/>
          <p:cNvSpPr/>
          <p:nvPr/>
        </p:nvSpPr>
        <p:spPr>
          <a:xfrm>
            <a:off x="3246120" y="2240280"/>
            <a:ext cx="320040" cy="292608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Limitation 2"/>
          <p:cNvSpPr/>
          <p:nvPr/>
        </p:nvSpPr>
        <p:spPr>
          <a:xfrm>
            <a:off x="3657600" y="1965960"/>
            <a:ext cx="502920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3822192" y="2020824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Limitation: </a:t>
            </a:r>
            <a:r>
              <a:rPr lang="en-US" sz="1050" dirty="0">
                <a:solidFill>
                  <a:schemeClr val="tx1"/>
                </a:solidFill>
              </a:rPr>
              <a:t>2^n cases. Measured: 935 nodes at n = 10 grow to 620,701 at n = 20 (95.49 ms).</a:t>
            </a:r>
            <a:endParaRPr lang="en-US" sz="1050" dirty="0"/>
          </a:p>
        </p:txBody>
      </p:sp>
      <p:sp>
        <p:nvSpPr>
          <p:cNvPr id="21" name="Greedy only"/>
          <p:cNvSpPr/>
          <p:nvPr/>
        </p:nvSpPr>
        <p:spPr>
          <a:xfrm>
            <a:off x="457200" y="2971800"/>
            <a:ext cx="269748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22" name="Greedy only badge"/>
          <p:cNvSpPr/>
          <p:nvPr/>
        </p:nvSpPr>
        <p:spPr>
          <a:xfrm>
            <a:off x="594360" y="31546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Greedy only icon" descr="Greedy onl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" y="3264408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70432" y="30998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Greedy only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1170432" y="34747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accent6"/>
                </a:solidFill>
              </a:rPr>
              <a:t>Best benefit ÷ cost first</a:t>
            </a:r>
            <a:endParaRPr lang="en-US" sz="950" dirty="0"/>
          </a:p>
        </p:txBody>
      </p:sp>
      <p:sp>
        <p:nvSpPr>
          <p:cNvPr id="26" name="Arrow"/>
          <p:cNvSpPr/>
          <p:nvPr/>
        </p:nvSpPr>
        <p:spPr>
          <a:xfrm>
            <a:off x="3246120" y="3246120"/>
            <a:ext cx="320040" cy="292608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Limitation 3"/>
          <p:cNvSpPr/>
          <p:nvPr/>
        </p:nvSpPr>
        <p:spPr>
          <a:xfrm>
            <a:off x="3657600" y="2971800"/>
            <a:ext cx="502920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3822192" y="3026664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Limitation: </a:t>
            </a:r>
            <a:r>
              <a:rPr lang="en-US" sz="1050" dirty="0">
                <a:solidFill>
                  <a:schemeClr val="tx1"/>
                </a:solidFill>
              </a:rPr>
              <a:t>Fast, but a locally good pick can block a better mix: benefit 255 against the optimum 260 on campus data, and 160 against 220 on the textbook case.</a:t>
            </a:r>
            <a:endParaRPr lang="en-US" sz="1050" dirty="0"/>
          </a:p>
        </p:txBody>
      </p:sp>
      <p:sp>
        <p:nvSpPr>
          <p:cNvPr id="29" name="Need banner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Need: </a:t>
            </a:r>
            <a:r>
              <a:rPr lang="en-US" sz="1150" dirty="0">
                <a:solidFill>
                  <a:schemeClr val="bg1"/>
                </a:solidFill>
              </a:rPr>
              <a:t>a method that is optimal and fast, so DP and Branch and Bound are judged fairly against Backtracking and Greedy.</a:t>
            </a:r>
            <a:endParaRPr lang="en-US" sz="11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82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Proposed Approach (Solution Flow)</a:t>
            </a:r>
            <a:endParaRPr lang="en-US" sz="2600" dirty="0"/>
          </a:p>
        </p:txBody>
      </p:sp>
      <p:sp>
        <p:nvSpPr>
          <p:cNvPr id="3" name="Topic badge"/>
          <p:cNvSpPr/>
          <p:nvPr/>
        </p:nvSpPr>
        <p:spPr>
          <a:xfrm>
            <a:off x="8302752" y="2377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Topic icon" descr="Top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924" y="329916"/>
            <a:ext cx="199705" cy="199705"/>
          </a:xfrm>
          <a:prstGeom prst="rect">
            <a:avLst/>
          </a:prstGeom>
        </p:spPr>
      </p:pic>
      <p:sp>
        <p:nvSpPr>
          <p:cNvPr id="5" name="Problem Definition"/>
          <p:cNvSpPr/>
          <p:nvPr/>
        </p:nvSpPr>
        <p:spPr>
          <a:xfrm>
            <a:off x="457200" y="1005840"/>
            <a:ext cx="187452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6" name="Step 1"/>
          <p:cNvSpPr/>
          <p:nvPr/>
        </p:nvSpPr>
        <p:spPr>
          <a:xfrm>
            <a:off x="566928" y="1115568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1115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950976" y="10972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Problem Definition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85216" y="157276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Fix requests, budget W and the goal: maximise total benefit.</a:t>
            </a:r>
            <a:endParaRPr lang="en-US" sz="1050" dirty="0"/>
          </a:p>
        </p:txBody>
      </p:sp>
      <p:sp>
        <p:nvSpPr>
          <p:cNvPr id="10" name="Arrow"/>
          <p:cNvSpPr/>
          <p:nvPr/>
        </p:nvSpPr>
        <p:spPr>
          <a:xfrm>
            <a:off x="2359152" y="1572768"/>
            <a:ext cx="182880" cy="201168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Input / Data"/>
          <p:cNvSpPr/>
          <p:nvPr/>
        </p:nvSpPr>
        <p:spPr>
          <a:xfrm>
            <a:off x="2578608" y="1005840"/>
            <a:ext cx="187452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12" name="Step 2"/>
          <p:cNvSpPr/>
          <p:nvPr/>
        </p:nvSpPr>
        <p:spPr>
          <a:xfrm>
            <a:off x="2688336" y="1115568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88336" y="1115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072384" y="10972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Input / Data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706624" y="157276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12 campus requests (cost, benefit) and seeded random instances.</a:t>
            </a:r>
            <a:endParaRPr lang="en-US" sz="1050" dirty="0"/>
          </a:p>
        </p:txBody>
      </p:sp>
      <p:sp>
        <p:nvSpPr>
          <p:cNvPr id="16" name="Arrow"/>
          <p:cNvSpPr/>
          <p:nvPr/>
        </p:nvSpPr>
        <p:spPr>
          <a:xfrm>
            <a:off x="4480560" y="1572768"/>
            <a:ext cx="182880" cy="201168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Algorithm Selection"/>
          <p:cNvSpPr/>
          <p:nvPr/>
        </p:nvSpPr>
        <p:spPr>
          <a:xfrm>
            <a:off x="4700016" y="1005840"/>
            <a:ext cx="187452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18" name="Step 3"/>
          <p:cNvSpPr/>
          <p:nvPr/>
        </p:nvSpPr>
        <p:spPr>
          <a:xfrm>
            <a:off x="4809744" y="1115568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09744" y="1115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193792" y="10972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Algorithm Selection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828032" y="157276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Backtracking, Greedy, Dynamic Programming, Branch and Bound.</a:t>
            </a:r>
            <a:endParaRPr lang="en-US" sz="1050" dirty="0"/>
          </a:p>
        </p:txBody>
      </p:sp>
      <p:sp>
        <p:nvSpPr>
          <p:cNvPr id="22" name="Arrow"/>
          <p:cNvSpPr/>
          <p:nvPr/>
        </p:nvSpPr>
        <p:spPr>
          <a:xfrm>
            <a:off x="6601968" y="1572768"/>
            <a:ext cx="182880" cy="201168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Algorithm Design"/>
          <p:cNvSpPr/>
          <p:nvPr/>
        </p:nvSpPr>
        <p:spPr>
          <a:xfrm>
            <a:off x="6821424" y="1005840"/>
            <a:ext cx="187452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24" name="Step 4"/>
          <p:cNvSpPr/>
          <p:nvPr/>
        </p:nvSpPr>
        <p:spPr>
          <a:xfrm>
            <a:off x="6931152" y="1115568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931152" y="1115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315200" y="10972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Algorithm Design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949440" y="157276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Write pseudocode, the DP recurrence and the B&amp;B bound.</a:t>
            </a:r>
            <a:endParaRPr lang="en-US" sz="1050" dirty="0"/>
          </a:p>
        </p:txBody>
      </p:sp>
      <p:sp>
        <p:nvSpPr>
          <p:cNvPr id="28" name="Arrow down"/>
          <p:cNvSpPr/>
          <p:nvPr/>
        </p:nvSpPr>
        <p:spPr>
          <a:xfrm>
            <a:off x="7644384" y="2395728"/>
            <a:ext cx="228600" cy="457200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Results and Conclusion"/>
          <p:cNvSpPr/>
          <p:nvPr/>
        </p:nvSpPr>
        <p:spPr>
          <a:xfrm>
            <a:off x="457200" y="2926080"/>
            <a:ext cx="187452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30" name="Step 8"/>
          <p:cNvSpPr/>
          <p:nvPr/>
        </p:nvSpPr>
        <p:spPr>
          <a:xfrm>
            <a:off x="566928" y="303580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6692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8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950976" y="30175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Results and Conclusion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85216" y="349300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Recommend a method for each situation.</a:t>
            </a:r>
            <a:endParaRPr lang="en-US" sz="1050" dirty="0"/>
          </a:p>
        </p:txBody>
      </p:sp>
      <p:sp>
        <p:nvSpPr>
          <p:cNvPr id="34" name="Arrow"/>
          <p:cNvSpPr/>
          <p:nvPr/>
        </p:nvSpPr>
        <p:spPr>
          <a:xfrm>
            <a:off x="2359152" y="3493008"/>
            <a:ext cx="182880" cy="201168"/>
          </a:xfrm>
          <a:prstGeom prst="lef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5" name="Performance Comparison"/>
          <p:cNvSpPr/>
          <p:nvPr/>
        </p:nvSpPr>
        <p:spPr>
          <a:xfrm>
            <a:off x="2578608" y="2926080"/>
            <a:ext cx="187452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36" name="Step 7"/>
          <p:cNvSpPr/>
          <p:nvPr/>
        </p:nvSpPr>
        <p:spPr>
          <a:xfrm>
            <a:off x="2688336" y="303580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688336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7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3072384" y="30175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Performance Comparison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2706624" y="349300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Time, operations and benefit vs optimum, n = 10 to 500.</a:t>
            </a:r>
            <a:endParaRPr lang="en-US" sz="1050" dirty="0"/>
          </a:p>
        </p:txBody>
      </p:sp>
      <p:sp>
        <p:nvSpPr>
          <p:cNvPr id="40" name="Arrow"/>
          <p:cNvSpPr/>
          <p:nvPr/>
        </p:nvSpPr>
        <p:spPr>
          <a:xfrm>
            <a:off x="4480560" y="3493008"/>
            <a:ext cx="182880" cy="201168"/>
          </a:xfrm>
          <a:prstGeom prst="lef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1" name="Testing"/>
          <p:cNvSpPr/>
          <p:nvPr/>
        </p:nvSpPr>
        <p:spPr>
          <a:xfrm>
            <a:off x="4700016" y="2926080"/>
            <a:ext cx="187452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42" name="Step 6"/>
          <p:cNvSpPr/>
          <p:nvPr/>
        </p:nvSpPr>
        <p:spPr>
          <a:xfrm>
            <a:off x="4809744" y="303580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809744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6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5193792" y="30175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Testing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828032" y="349300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14 checks, including 200 random instances.</a:t>
            </a:r>
            <a:endParaRPr lang="en-US" sz="1050" dirty="0"/>
          </a:p>
        </p:txBody>
      </p:sp>
      <p:sp>
        <p:nvSpPr>
          <p:cNvPr id="46" name="Arrow"/>
          <p:cNvSpPr/>
          <p:nvPr/>
        </p:nvSpPr>
        <p:spPr>
          <a:xfrm>
            <a:off x="6601968" y="3493008"/>
            <a:ext cx="182880" cy="201168"/>
          </a:xfrm>
          <a:prstGeom prst="lef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7" name="Implementation"/>
          <p:cNvSpPr/>
          <p:nvPr/>
        </p:nvSpPr>
        <p:spPr>
          <a:xfrm>
            <a:off x="6821424" y="2926080"/>
            <a:ext cx="187452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48" name="Step 5"/>
          <p:cNvSpPr/>
          <p:nvPr/>
        </p:nvSpPr>
        <p:spPr>
          <a:xfrm>
            <a:off x="6931152" y="3035808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931152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7315200" y="30175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6949440" y="349300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Python code, one function per method, shared test harness.</a:t>
            </a:r>
            <a:endParaRPr lang="en-US" sz="105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82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Algorithms Used</a:t>
            </a:r>
            <a:endParaRPr lang="en-US" sz="2600" dirty="0"/>
          </a:p>
        </p:txBody>
      </p:sp>
      <p:sp>
        <p:nvSpPr>
          <p:cNvPr id="3" name="Topic badge"/>
          <p:cNvSpPr/>
          <p:nvPr/>
        </p:nvSpPr>
        <p:spPr>
          <a:xfrm>
            <a:off x="8302752" y="2377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Topic icon" descr="Top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924" y="329916"/>
            <a:ext cx="199705" cy="199705"/>
          </a:xfrm>
          <a:prstGeom prst="rect">
            <a:avLst/>
          </a:prstGeom>
        </p:spPr>
      </p:pic>
      <p:sp>
        <p:nvSpPr>
          <p:cNvPr id="5" name="Backtracking"/>
          <p:cNvSpPr/>
          <p:nvPr/>
        </p:nvSpPr>
        <p:spPr>
          <a:xfrm>
            <a:off x="457200" y="868680"/>
            <a:ext cx="402336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6" name="Backtracking badge"/>
          <p:cNvSpPr/>
          <p:nvPr/>
        </p:nvSpPr>
        <p:spPr>
          <a:xfrm>
            <a:off x="594360" y="96012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Backtracking icon" descr="Backtrack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" y="1047902"/>
            <a:ext cx="190195" cy="19019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960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Backtracking</a:t>
            </a:r>
            <a:endParaRPr lang="en-US" sz="1300" dirty="0"/>
          </a:p>
        </p:txBody>
      </p:sp>
      <p:sp>
        <p:nvSpPr>
          <p:cNvPr id="9" name="Backtracking badge pill"/>
          <p:cNvSpPr/>
          <p:nvPr/>
        </p:nvSpPr>
        <p:spPr>
          <a:xfrm>
            <a:off x="2971800" y="1024128"/>
            <a:ext cx="1371600" cy="246888"/>
          </a:xfrm>
          <a:prstGeom prst="roundRect">
            <a:avLst>
              <a:gd name="adj" fmla="val 18519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971800" y="102412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2"/>
                </a:solidFill>
              </a:rPr>
              <a:t>Always optimal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594360" y="1399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4"/>
                </a:solidFill>
              </a:rPr>
              <a:t>Idea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1508760" y="13990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Include or exclude each request; drop a branch when the budget is exceeded, then backtrack.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594360" y="19110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4"/>
                </a:solidFill>
              </a:rPr>
              <a:t>Why chosen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1508760" y="191109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Baseline that proves correctness on small inputs.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594360" y="2240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4"/>
                </a:solidFill>
              </a:rPr>
              <a:t>Data structure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1508760" y="2240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Recursion stack and a best-so-far record.</a:t>
            </a:r>
            <a:endParaRPr lang="en-US" sz="1000" dirty="0"/>
          </a:p>
        </p:txBody>
      </p:sp>
      <p:sp>
        <p:nvSpPr>
          <p:cNvPr id="17" name="Greedy"/>
          <p:cNvSpPr/>
          <p:nvPr/>
        </p:nvSpPr>
        <p:spPr>
          <a:xfrm>
            <a:off x="4663440" y="868680"/>
            <a:ext cx="402336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18" name="Greedy badge"/>
          <p:cNvSpPr/>
          <p:nvPr/>
        </p:nvSpPr>
        <p:spPr>
          <a:xfrm>
            <a:off x="4800600" y="96012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Greedy icon" descr="Greed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8382" y="1047902"/>
            <a:ext cx="190195" cy="1901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257800" y="960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Greedy</a:t>
            </a:r>
            <a:endParaRPr lang="en-US" sz="1300" dirty="0"/>
          </a:p>
        </p:txBody>
      </p:sp>
      <p:sp>
        <p:nvSpPr>
          <p:cNvPr id="21" name="Greedy badge pill"/>
          <p:cNvSpPr/>
          <p:nvPr/>
        </p:nvSpPr>
        <p:spPr>
          <a:xfrm>
            <a:off x="7178040" y="1024128"/>
            <a:ext cx="1371600" cy="246888"/>
          </a:xfrm>
          <a:prstGeom prst="roundRect">
            <a:avLst>
              <a:gd name="adj" fmla="val 18519"/>
            </a:avLst>
          </a:prstGeom>
          <a:solidFill>
            <a:schemeClr val="accent2">
              <a:alpha val="30000"/>
            </a:schemeClr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178040" y="102412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2"/>
                </a:solidFill>
              </a:rPr>
              <a:t>Not always optimal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4800600" y="1399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4"/>
                </a:solidFill>
              </a:rPr>
              <a:t>Idea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5715000" y="13990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Sort by benefit ÷ cost (value for money) and fund every request that still fits.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4800600" y="19110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4"/>
                </a:solidFill>
              </a:rPr>
              <a:t>Why chosen</a:t>
            </a:r>
            <a:endParaRPr lang="en-US" sz="950" dirty="0"/>
          </a:p>
        </p:txBody>
      </p:sp>
      <p:sp>
        <p:nvSpPr>
          <p:cNvPr id="26" name="Text 21"/>
          <p:cNvSpPr txBox="1"/>
          <p:nvPr/>
        </p:nvSpPr>
        <p:spPr>
          <a:xfrm>
            <a:off x="5715000" y="191109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Very fast; a good quick estimate.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4800600" y="2240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4"/>
                </a:solidFill>
              </a:rPr>
              <a:t>Data structure</a:t>
            </a:r>
            <a:endParaRPr lang="en-US" sz="950" dirty="0"/>
          </a:p>
        </p:txBody>
      </p:sp>
      <p:sp>
        <p:nvSpPr>
          <p:cNvPr id="28" name="Text 23"/>
          <p:cNvSpPr txBox="1"/>
          <p:nvPr/>
        </p:nvSpPr>
        <p:spPr>
          <a:xfrm>
            <a:off x="5715000" y="2240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Index list sorted by ratio.</a:t>
            </a:r>
            <a:endParaRPr lang="en-US" sz="1000" dirty="0"/>
          </a:p>
        </p:txBody>
      </p:sp>
      <p:sp>
        <p:nvSpPr>
          <p:cNvPr id="29" name="Dynamic Programming"/>
          <p:cNvSpPr/>
          <p:nvPr/>
        </p:nvSpPr>
        <p:spPr>
          <a:xfrm>
            <a:off x="457200" y="2761488"/>
            <a:ext cx="402336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30" name="Dynamic Programming badge"/>
          <p:cNvSpPr/>
          <p:nvPr/>
        </p:nvSpPr>
        <p:spPr>
          <a:xfrm>
            <a:off x="594360" y="285292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Dynamic Programming icon" descr="Dynamic Programm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142" y="2940710"/>
            <a:ext cx="190195" cy="190195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051560" y="28529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Dynamic Programming</a:t>
            </a:r>
            <a:endParaRPr lang="en-US" sz="1300" dirty="0"/>
          </a:p>
        </p:txBody>
      </p:sp>
      <p:sp>
        <p:nvSpPr>
          <p:cNvPr id="33" name="Dynamic Programming badge pill"/>
          <p:cNvSpPr/>
          <p:nvPr/>
        </p:nvSpPr>
        <p:spPr>
          <a:xfrm>
            <a:off x="2971800" y="2916936"/>
            <a:ext cx="1371600" cy="246888"/>
          </a:xfrm>
          <a:prstGeom prst="roundRect">
            <a:avLst>
              <a:gd name="adj" fmla="val 18519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2971800" y="291693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2"/>
                </a:solidFill>
              </a:rPr>
              <a:t>Always optimal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594360" y="3291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4"/>
                </a:solidFill>
              </a:rPr>
              <a:t>Idea</a:t>
            </a:r>
            <a:endParaRPr lang="en-US" sz="950" dirty="0"/>
          </a:p>
        </p:txBody>
      </p:sp>
      <p:sp>
        <p:nvSpPr>
          <p:cNvPr id="36" name="Text 30"/>
          <p:cNvSpPr txBox="1"/>
          <p:nvPr/>
        </p:nvSpPr>
        <p:spPr>
          <a:xfrm>
            <a:off x="1508760" y="3291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T[i][w] = best benefit using the first i requests with budget w: skip or take request i.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594360" y="38039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4"/>
                </a:solidFill>
              </a:rPr>
              <a:t>Why chosen</a:t>
            </a:r>
            <a:endParaRPr lang="en-US" sz="950" dirty="0"/>
          </a:p>
        </p:txBody>
      </p:sp>
      <p:sp>
        <p:nvSpPr>
          <p:cNvPr id="38" name="Text 32"/>
          <p:cNvSpPr txBox="1"/>
          <p:nvPr/>
        </p:nvSpPr>
        <p:spPr>
          <a:xfrm>
            <a:off x="1508760" y="38039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Guaranteed optimum in O(n·W) time.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594360" y="4133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4"/>
                </a:solidFill>
              </a:rPr>
              <a:t>Data structure</a:t>
            </a:r>
            <a:endParaRPr lang="en-US" sz="950" dirty="0"/>
          </a:p>
        </p:txBody>
      </p:sp>
      <p:sp>
        <p:nvSpPr>
          <p:cNvPr id="40" name="Text 34"/>
          <p:cNvSpPr txBox="1"/>
          <p:nvPr/>
        </p:nvSpPr>
        <p:spPr>
          <a:xfrm>
            <a:off x="1508760" y="41330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2-D table T and a trace-back to find the funded set.</a:t>
            </a:r>
            <a:endParaRPr lang="en-US" sz="1000" dirty="0"/>
          </a:p>
        </p:txBody>
      </p:sp>
      <p:sp>
        <p:nvSpPr>
          <p:cNvPr id="41" name="Branch and Bound"/>
          <p:cNvSpPr/>
          <p:nvPr/>
        </p:nvSpPr>
        <p:spPr>
          <a:xfrm>
            <a:off x="4663440" y="2761488"/>
            <a:ext cx="402336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42" name="Branch and Bound badge"/>
          <p:cNvSpPr/>
          <p:nvPr/>
        </p:nvSpPr>
        <p:spPr>
          <a:xfrm>
            <a:off x="4800600" y="2852928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3" name="Branch and Bound icon" descr="Branch and Boun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8382" y="2940710"/>
            <a:ext cx="190195" cy="190195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5257800" y="28529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Branch and Bound</a:t>
            </a:r>
            <a:endParaRPr lang="en-US" sz="1300" dirty="0"/>
          </a:p>
        </p:txBody>
      </p:sp>
      <p:sp>
        <p:nvSpPr>
          <p:cNvPr id="45" name="Branch and Bound badge pill"/>
          <p:cNvSpPr/>
          <p:nvPr/>
        </p:nvSpPr>
        <p:spPr>
          <a:xfrm>
            <a:off x="7178040" y="2916936"/>
            <a:ext cx="1371600" cy="246888"/>
          </a:xfrm>
          <a:prstGeom prst="roundRect">
            <a:avLst>
              <a:gd name="adj" fmla="val 18519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7178040" y="291693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2"/>
                </a:solidFill>
              </a:rPr>
              <a:t>Always optimal</a:t>
            </a:r>
            <a:endParaRPr lang="en-US" sz="900" dirty="0"/>
          </a:p>
        </p:txBody>
      </p:sp>
      <p:sp>
        <p:nvSpPr>
          <p:cNvPr id="47" name="Text 40"/>
          <p:cNvSpPr txBox="1"/>
          <p:nvPr/>
        </p:nvSpPr>
        <p:spPr>
          <a:xfrm>
            <a:off x="4800600" y="3291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4"/>
                </a:solidFill>
              </a:rPr>
              <a:t>Idea</a:t>
            </a:r>
            <a:endParaRPr lang="en-US" sz="950" dirty="0"/>
          </a:p>
        </p:txBody>
      </p:sp>
      <p:sp>
        <p:nvSpPr>
          <p:cNvPr id="48" name="Text 41"/>
          <p:cNvSpPr txBox="1"/>
          <p:nvPr/>
        </p:nvSpPr>
        <p:spPr>
          <a:xfrm>
            <a:off x="5715000" y="3291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Best-first search; an optimistic fractional bound prunes branches that cannot beat the best plan.</a:t>
            </a:r>
            <a:endParaRPr lang="en-US" sz="1000" dirty="0"/>
          </a:p>
        </p:txBody>
      </p:sp>
      <p:sp>
        <p:nvSpPr>
          <p:cNvPr id="49" name="Text 42"/>
          <p:cNvSpPr txBox="1"/>
          <p:nvPr/>
        </p:nvSpPr>
        <p:spPr>
          <a:xfrm>
            <a:off x="4800600" y="38039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4"/>
                </a:solidFill>
              </a:rPr>
              <a:t>Why chosen</a:t>
            </a:r>
            <a:endParaRPr lang="en-US" sz="950" dirty="0"/>
          </a:p>
        </p:txBody>
      </p:sp>
      <p:sp>
        <p:nvSpPr>
          <p:cNvPr id="50" name="Text 43"/>
          <p:cNvSpPr txBox="1"/>
          <p:nvPr/>
        </p:nvSpPr>
        <p:spPr>
          <a:xfrm>
            <a:off x="5715000" y="38039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Optimal with far fewer nodes than Backtracking.</a:t>
            </a:r>
            <a:endParaRPr lang="en-US" sz="1000" dirty="0"/>
          </a:p>
        </p:txBody>
      </p:sp>
      <p:sp>
        <p:nvSpPr>
          <p:cNvPr id="51" name="Text 44"/>
          <p:cNvSpPr txBox="1"/>
          <p:nvPr/>
        </p:nvSpPr>
        <p:spPr>
          <a:xfrm>
            <a:off x="4800600" y="4133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4"/>
                </a:solidFill>
              </a:rPr>
              <a:t>Data structure</a:t>
            </a:r>
            <a:endParaRPr lang="en-US" sz="950" dirty="0"/>
          </a:p>
        </p:txBody>
      </p:sp>
      <p:sp>
        <p:nvSpPr>
          <p:cNvPr id="52" name="Text 45"/>
          <p:cNvSpPr txBox="1"/>
          <p:nvPr/>
        </p:nvSpPr>
        <p:spPr>
          <a:xfrm>
            <a:off x="5715000" y="41330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Max-heap (heapq) ordered by bound; bitmask for the chosen set.</a:t>
            </a:r>
            <a:endParaRPr lang="en-US" sz="100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82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Algorithm / Pseudocode</a:t>
            </a:r>
            <a:endParaRPr lang="en-US" sz="2600" dirty="0"/>
          </a:p>
        </p:txBody>
      </p:sp>
      <p:sp>
        <p:nvSpPr>
          <p:cNvPr id="3" name="Topic badge"/>
          <p:cNvSpPr/>
          <p:nvPr/>
        </p:nvSpPr>
        <p:spPr>
          <a:xfrm>
            <a:off x="8302752" y="2377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Topic icon" descr="Top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924" y="329916"/>
            <a:ext cx="199705" cy="199705"/>
          </a:xfrm>
          <a:prstGeom prst="rect">
            <a:avLst/>
          </a:prstGeom>
        </p:spPr>
      </p:pic>
      <p:sp>
        <p:nvSpPr>
          <p:cNvPr id="5" name="Backtracking panel"/>
          <p:cNvSpPr/>
          <p:nvPr/>
        </p:nvSpPr>
        <p:spPr>
          <a:xfrm>
            <a:off x="457200" y="868680"/>
            <a:ext cx="4023360" cy="1810512"/>
          </a:xfrm>
          <a:prstGeom prst="roundRect">
            <a:avLst>
              <a:gd name="adj" fmla="val 404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94360" y="9418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Backtracking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9418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chemeClr val="accent2"/>
                </a:solidFill>
              </a:rPr>
              <a:t>Time O(2^n)  Space O(n)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252728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explore(i, cost, value):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i == n: update best; return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cost + c[i] &lt;= W:      # include i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explore(i+1, cost+c[i], value+b[i])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undo                    # BACKTRACK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explore(i+1, cost, value) # exclude i</a:t>
            </a:r>
            <a:endParaRPr lang="en-US" sz="950" dirty="0"/>
          </a:p>
        </p:txBody>
      </p:sp>
      <p:sp>
        <p:nvSpPr>
          <p:cNvPr id="9" name="Greedy (benefit / cost) panel"/>
          <p:cNvSpPr/>
          <p:nvPr/>
        </p:nvSpPr>
        <p:spPr>
          <a:xfrm>
            <a:off x="4663440" y="868680"/>
            <a:ext cx="4023360" cy="1810512"/>
          </a:xfrm>
          <a:prstGeom prst="roundRect">
            <a:avLst>
              <a:gd name="adj" fmla="val 404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800600" y="9418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Greedy (benefit / cost)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9418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chemeClr val="accent2"/>
                </a:solidFill>
              </a:rPr>
              <a:t>Time O(n log n)  Space O(n)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1252728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= sort items by b[i]/c[i], high first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 = 0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order: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used + c[i] &lt;= W: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fund item i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used = used + c[i]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funded set</a:t>
            </a:r>
            <a:endParaRPr lang="en-US" sz="950" dirty="0"/>
          </a:p>
        </p:txBody>
      </p:sp>
      <p:sp>
        <p:nvSpPr>
          <p:cNvPr id="13" name="Dynamic Programming panel"/>
          <p:cNvSpPr/>
          <p:nvPr/>
        </p:nvSpPr>
        <p:spPr>
          <a:xfrm>
            <a:off x="457200" y="2788920"/>
            <a:ext cx="4023360" cy="1810512"/>
          </a:xfrm>
          <a:prstGeom prst="roundRect">
            <a:avLst>
              <a:gd name="adj" fmla="val 404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594360" y="28620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Dynamic Programming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377440" y="28620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chemeClr val="accent2"/>
                </a:solidFill>
              </a:rPr>
              <a:t>Time O(n·W)  Space O(n·W)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594360" y="3172968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T[0][w] = 0 for all w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 to n: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w = 0 to W: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T[i][w] = T[i-1][w]          # skip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c[i] &lt;= w:                # take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T[i][w] = max(T[i][w],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T[i-1][w-c[i]] + b[i])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 back from T[n][W] -&gt; funded set</a:t>
            </a:r>
            <a:endParaRPr lang="en-US" sz="950" dirty="0"/>
          </a:p>
        </p:txBody>
      </p:sp>
      <p:sp>
        <p:nvSpPr>
          <p:cNvPr id="17" name="Branch and Bound panel"/>
          <p:cNvSpPr/>
          <p:nvPr/>
        </p:nvSpPr>
        <p:spPr>
          <a:xfrm>
            <a:off x="4663440" y="2788920"/>
            <a:ext cx="4023360" cy="1810512"/>
          </a:xfrm>
          <a:prstGeom prst="roundRect">
            <a:avLst>
              <a:gd name="adj" fmla="val 404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4800600" y="28620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Branch and Bound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583680" y="28620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chemeClr val="accent2"/>
                </a:solidFill>
              </a:rPr>
              <a:t>Worst O(2^n)  Space O(2^n)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4800600" y="3172968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 items by ratio; push root in max-heap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heap not empty: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 = pop node with best bound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bound(node) &lt;= best: prune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 1: include item (if it fits)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 2: exclude item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 child if its bound &gt; best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 = fractional greedy on the rest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82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System Design / Architecture</a:t>
            </a:r>
            <a:endParaRPr lang="en-US" sz="2600" dirty="0"/>
          </a:p>
        </p:txBody>
      </p:sp>
      <p:sp>
        <p:nvSpPr>
          <p:cNvPr id="3" name="Topic badge"/>
          <p:cNvSpPr/>
          <p:nvPr/>
        </p:nvSpPr>
        <p:spPr>
          <a:xfrm>
            <a:off x="8302752" y="2377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Topic icon" descr="Top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924" y="329916"/>
            <a:ext cx="199705" cy="199705"/>
          </a:xfrm>
          <a:prstGeom prst="rect">
            <a:avLst/>
          </a:prstGeom>
        </p:spPr>
      </p:pic>
      <p:sp>
        <p:nvSpPr>
          <p:cNvPr id="5" name="User Input header"/>
          <p:cNvSpPr/>
          <p:nvPr/>
        </p:nvSpPr>
        <p:spPr>
          <a:xfrm>
            <a:off x="457200" y="914400"/>
            <a:ext cx="1463040" cy="384048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9144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User Input</a:t>
            </a:r>
            <a:endParaRPr lang="en-US" sz="1050" dirty="0"/>
          </a:p>
        </p:txBody>
      </p:sp>
      <p:sp>
        <p:nvSpPr>
          <p:cNvPr id="7" name="User Input"/>
          <p:cNvSpPr/>
          <p:nvPr/>
        </p:nvSpPr>
        <p:spPr>
          <a:xfrm>
            <a:off x="457200" y="1389888"/>
            <a:ext cx="1463040" cy="17830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8" name="User Input badge"/>
          <p:cNvSpPr/>
          <p:nvPr/>
        </p:nvSpPr>
        <p:spPr>
          <a:xfrm>
            <a:off x="1005840" y="1499616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9" name="User Input icon" descr="User Inpu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622" y="1587398"/>
            <a:ext cx="190195" cy="19019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1956816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Total budget W (default Rs. 60 lakh) and the choice of graphs to show.</a:t>
            </a:r>
            <a:endParaRPr lang="en-US" sz="1000" dirty="0"/>
          </a:p>
        </p:txBody>
      </p:sp>
      <p:sp>
        <p:nvSpPr>
          <p:cNvPr id="11" name="Arrow"/>
          <p:cNvSpPr/>
          <p:nvPr/>
        </p:nvSpPr>
        <p:spPr>
          <a:xfrm>
            <a:off x="1947672" y="1024128"/>
            <a:ext cx="182880" cy="201168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Data Module header"/>
          <p:cNvSpPr/>
          <p:nvPr/>
        </p:nvSpPr>
        <p:spPr>
          <a:xfrm>
            <a:off x="2148840" y="914400"/>
            <a:ext cx="1463040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148840" y="9144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Data Module</a:t>
            </a:r>
            <a:endParaRPr lang="en-US" sz="1050" dirty="0"/>
          </a:p>
        </p:txBody>
      </p:sp>
      <p:sp>
        <p:nvSpPr>
          <p:cNvPr id="14" name="Data Module"/>
          <p:cNvSpPr/>
          <p:nvPr/>
        </p:nvSpPr>
        <p:spPr>
          <a:xfrm>
            <a:off x="2148840" y="1389888"/>
            <a:ext cx="1463040" cy="17830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15" name="Data Module badge"/>
          <p:cNvSpPr/>
          <p:nvPr/>
        </p:nvSpPr>
        <p:spPr>
          <a:xfrm>
            <a:off x="2697480" y="1499616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Data Module icon" descr="Data Modu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5262" y="1587398"/>
            <a:ext cx="190195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240280" y="1956816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Holds the 12 funding requests (cost, benefit) or builds seeded random instances.</a:t>
            </a:r>
            <a:endParaRPr lang="en-US" sz="1000" dirty="0"/>
          </a:p>
        </p:txBody>
      </p:sp>
      <p:sp>
        <p:nvSpPr>
          <p:cNvPr id="18" name="Arrow"/>
          <p:cNvSpPr/>
          <p:nvPr/>
        </p:nvSpPr>
        <p:spPr>
          <a:xfrm>
            <a:off x="3639312" y="1024128"/>
            <a:ext cx="182880" cy="201168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Algorithm Module header"/>
          <p:cNvSpPr/>
          <p:nvPr/>
        </p:nvSpPr>
        <p:spPr>
          <a:xfrm>
            <a:off x="3840480" y="914400"/>
            <a:ext cx="1463040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840480" y="9144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Algorithm Module</a:t>
            </a:r>
            <a:endParaRPr lang="en-US" sz="1050" dirty="0"/>
          </a:p>
        </p:txBody>
      </p:sp>
      <p:sp>
        <p:nvSpPr>
          <p:cNvPr id="21" name="Algorithm Module"/>
          <p:cNvSpPr/>
          <p:nvPr/>
        </p:nvSpPr>
        <p:spPr>
          <a:xfrm>
            <a:off x="3840480" y="1389888"/>
            <a:ext cx="1463040" cy="17830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22" name="Backtracking box"/>
          <p:cNvSpPr/>
          <p:nvPr/>
        </p:nvSpPr>
        <p:spPr>
          <a:xfrm>
            <a:off x="3931920" y="1481328"/>
            <a:ext cx="1280160" cy="347472"/>
          </a:xfrm>
          <a:prstGeom prst="roundRect">
            <a:avLst>
              <a:gd name="adj" fmla="val 13158"/>
            </a:avLst>
          </a:prstGeom>
          <a:solidFill>
            <a:schemeClr val="accent1">
              <a:alpha val="20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3931920" y="14813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2"/>
                </a:solidFill>
              </a:rPr>
              <a:t>Backtracking</a:t>
            </a:r>
            <a:endParaRPr lang="en-US" sz="900" dirty="0"/>
          </a:p>
        </p:txBody>
      </p:sp>
      <p:sp>
        <p:nvSpPr>
          <p:cNvPr id="24" name="Greedy box"/>
          <p:cNvSpPr/>
          <p:nvPr/>
        </p:nvSpPr>
        <p:spPr>
          <a:xfrm>
            <a:off x="3931920" y="1901952"/>
            <a:ext cx="1280160" cy="347472"/>
          </a:xfrm>
          <a:prstGeom prst="roundRect">
            <a:avLst>
              <a:gd name="adj" fmla="val 13158"/>
            </a:avLst>
          </a:prstGeom>
          <a:solidFill>
            <a:schemeClr val="accent1">
              <a:alpha val="20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3931920" y="190195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2"/>
                </a:solidFill>
              </a:rPr>
              <a:t>Greedy</a:t>
            </a:r>
            <a:endParaRPr lang="en-US" sz="900" dirty="0"/>
          </a:p>
        </p:txBody>
      </p:sp>
      <p:sp>
        <p:nvSpPr>
          <p:cNvPr id="26" name="Dynamic Programming box"/>
          <p:cNvSpPr/>
          <p:nvPr/>
        </p:nvSpPr>
        <p:spPr>
          <a:xfrm>
            <a:off x="3931920" y="2322576"/>
            <a:ext cx="1280160" cy="347472"/>
          </a:xfrm>
          <a:prstGeom prst="roundRect">
            <a:avLst>
              <a:gd name="adj" fmla="val 13158"/>
            </a:avLst>
          </a:prstGeom>
          <a:solidFill>
            <a:schemeClr val="accent1">
              <a:alpha val="20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3931920" y="23225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2"/>
                </a:solidFill>
              </a:rPr>
              <a:t>Dynamic Programming</a:t>
            </a:r>
            <a:endParaRPr lang="en-US" sz="900" dirty="0"/>
          </a:p>
        </p:txBody>
      </p:sp>
      <p:sp>
        <p:nvSpPr>
          <p:cNvPr id="28" name="Branch and Bound box"/>
          <p:cNvSpPr/>
          <p:nvPr/>
        </p:nvSpPr>
        <p:spPr>
          <a:xfrm>
            <a:off x="3931920" y="2743200"/>
            <a:ext cx="1280160" cy="347472"/>
          </a:xfrm>
          <a:prstGeom prst="roundRect">
            <a:avLst>
              <a:gd name="adj" fmla="val 13158"/>
            </a:avLst>
          </a:prstGeom>
          <a:solidFill>
            <a:schemeClr val="accent1">
              <a:alpha val="20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3931920" y="27432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2"/>
                </a:solidFill>
              </a:rPr>
              <a:t>Branch and Bound</a:t>
            </a:r>
            <a:endParaRPr lang="en-US" sz="900" dirty="0"/>
          </a:p>
        </p:txBody>
      </p:sp>
      <p:sp>
        <p:nvSpPr>
          <p:cNvPr id="30" name="Arrow"/>
          <p:cNvSpPr/>
          <p:nvPr/>
        </p:nvSpPr>
        <p:spPr>
          <a:xfrm>
            <a:off x="5330952" y="1024128"/>
            <a:ext cx="182880" cy="201168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Performance Module header"/>
          <p:cNvSpPr/>
          <p:nvPr/>
        </p:nvSpPr>
        <p:spPr>
          <a:xfrm>
            <a:off x="5532120" y="914400"/>
            <a:ext cx="1463040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5532120" y="9144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Performance Module</a:t>
            </a:r>
            <a:endParaRPr lang="en-US" sz="1050" dirty="0"/>
          </a:p>
        </p:txBody>
      </p:sp>
      <p:sp>
        <p:nvSpPr>
          <p:cNvPr id="33" name="Performance Module"/>
          <p:cNvSpPr/>
          <p:nvPr/>
        </p:nvSpPr>
        <p:spPr>
          <a:xfrm>
            <a:off x="5532120" y="1389888"/>
            <a:ext cx="1463040" cy="17830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34" name="Performance Module badge"/>
          <p:cNvSpPr/>
          <p:nvPr/>
        </p:nvSpPr>
        <p:spPr>
          <a:xfrm>
            <a:off x="6080760" y="1499616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5" name="Performance Module icon" descr="Performance Modul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8542" y="1587398"/>
            <a:ext cx="190195" cy="190195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5623560" y="1956816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Timer, operation counter, total benefit, cost used and gap to optimum.</a:t>
            </a:r>
            <a:endParaRPr lang="en-US" sz="1000" dirty="0"/>
          </a:p>
        </p:txBody>
      </p:sp>
      <p:sp>
        <p:nvSpPr>
          <p:cNvPr id="37" name="Arrow"/>
          <p:cNvSpPr/>
          <p:nvPr/>
        </p:nvSpPr>
        <p:spPr>
          <a:xfrm>
            <a:off x="7022592" y="1024128"/>
            <a:ext cx="182880" cy="201168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8" name="Output header"/>
          <p:cNvSpPr/>
          <p:nvPr/>
        </p:nvSpPr>
        <p:spPr>
          <a:xfrm>
            <a:off x="7223760" y="914400"/>
            <a:ext cx="1463040" cy="384048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7223760" y="9144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Output</a:t>
            </a:r>
            <a:endParaRPr lang="en-US" sz="1050" dirty="0"/>
          </a:p>
        </p:txBody>
      </p:sp>
      <p:sp>
        <p:nvSpPr>
          <p:cNvPr id="40" name="Output"/>
          <p:cNvSpPr/>
          <p:nvPr/>
        </p:nvSpPr>
        <p:spPr>
          <a:xfrm>
            <a:off x="7223760" y="1389888"/>
            <a:ext cx="1463040" cy="17830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41" name="Output badge"/>
          <p:cNvSpPr/>
          <p:nvPr/>
        </p:nvSpPr>
        <p:spPr>
          <a:xfrm>
            <a:off x="7772400" y="1499616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2" name="Output icon" descr="Outpu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0182" y="1587398"/>
            <a:ext cx="190195" cy="190195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7315200" y="1956816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Allocation tables, live graphs and the final optimal allocation graph.</a:t>
            </a:r>
            <a:endParaRPr lang="en-US" sz="1000" dirty="0"/>
          </a:p>
        </p:txBody>
      </p:sp>
      <p:sp>
        <p:nvSpPr>
          <p:cNvPr id="44" name="Independent modules"/>
          <p:cNvSpPr/>
          <p:nvPr/>
        </p:nvSpPr>
        <p:spPr>
          <a:xfrm>
            <a:off x="457200" y="3383280"/>
            <a:ext cx="2651760" cy="1170432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45" name="Independent modules badge"/>
          <p:cNvSpPr/>
          <p:nvPr/>
        </p:nvSpPr>
        <p:spPr>
          <a:xfrm>
            <a:off x="594360" y="351129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6" name="Independent modules icon" descr="Independent module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532" y="3603468"/>
            <a:ext cx="199705" cy="199705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1097280" y="35112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Independent modules</a:t>
            </a:r>
            <a:endParaRPr lang="en-US" sz="1150" dirty="0"/>
          </a:p>
        </p:txBody>
      </p:sp>
      <p:sp>
        <p:nvSpPr>
          <p:cNvPr id="48" name="Text 40"/>
          <p:cNvSpPr txBox="1"/>
          <p:nvPr/>
        </p:nvSpPr>
        <p:spPr>
          <a:xfrm>
            <a:off x="594360" y="396849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New algorithms can be added to the ALGORITHMS table without touching the rest.</a:t>
            </a:r>
            <a:endParaRPr lang="en-US" sz="1000" dirty="0"/>
          </a:p>
        </p:txBody>
      </p:sp>
      <p:sp>
        <p:nvSpPr>
          <p:cNvPr id="49" name="Same input for all"/>
          <p:cNvSpPr/>
          <p:nvPr/>
        </p:nvSpPr>
        <p:spPr>
          <a:xfrm>
            <a:off x="3246120" y="3383280"/>
            <a:ext cx="2651760" cy="1170432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50" name="Same input for all badge"/>
          <p:cNvSpPr/>
          <p:nvPr/>
        </p:nvSpPr>
        <p:spPr>
          <a:xfrm>
            <a:off x="3383280" y="35112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1" name="Same input for all icon" descr="Same input for all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5452" y="3603468"/>
            <a:ext cx="199705" cy="199705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3886200" y="35112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Same input for all</a:t>
            </a:r>
            <a:endParaRPr lang="en-US" sz="1150" dirty="0"/>
          </a:p>
        </p:txBody>
      </p:sp>
      <p:sp>
        <p:nvSpPr>
          <p:cNvPr id="53" name="Text 44"/>
          <p:cNvSpPr txBox="1"/>
          <p:nvPr/>
        </p:nvSpPr>
        <p:spPr>
          <a:xfrm>
            <a:off x="3383280" y="396849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Every algorithm runs on the identical instance, so the comparison is fair.</a:t>
            </a:r>
            <a:endParaRPr lang="en-US" sz="1000" dirty="0"/>
          </a:p>
        </p:txBody>
      </p:sp>
      <p:sp>
        <p:nvSpPr>
          <p:cNvPr id="54" name="Metrics logged"/>
          <p:cNvSpPr/>
          <p:nvPr/>
        </p:nvSpPr>
        <p:spPr>
          <a:xfrm>
            <a:off x="6035040" y="3383280"/>
            <a:ext cx="2651760" cy="1170432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55" name="Metrics logged badge"/>
          <p:cNvSpPr/>
          <p:nvPr/>
        </p:nvSpPr>
        <p:spPr>
          <a:xfrm>
            <a:off x="6172200" y="3511296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6" name="Metrics logged icon" descr="Metrics logged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4372" y="3603468"/>
            <a:ext cx="199705" cy="199705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6675120" y="35112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Metrics logged</a:t>
            </a:r>
            <a:endParaRPr lang="en-US" sz="1150" dirty="0"/>
          </a:p>
        </p:txBody>
      </p:sp>
      <p:sp>
        <p:nvSpPr>
          <p:cNvPr id="58" name="Text 48"/>
          <p:cNvSpPr txBox="1"/>
          <p:nvPr/>
        </p:nvSpPr>
        <p:spPr>
          <a:xfrm>
            <a:off x="6172200" y="396849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Each run returns (chosen set, operations) and run_all() adds time, benefit and cost.</a:t>
            </a:r>
            <a:endParaRPr lang="en-US" sz="1000" dirty="0"/>
          </a:p>
        </p:txBody>
      </p:sp>
      <p:sp>
        <p:nvSpPr>
          <p:cNvPr id="5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82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Implementation</a:t>
            </a:r>
            <a:endParaRPr lang="en-US" sz="2600" dirty="0"/>
          </a:p>
        </p:txBody>
      </p:sp>
      <p:sp>
        <p:nvSpPr>
          <p:cNvPr id="3" name="Topic badge"/>
          <p:cNvSpPr/>
          <p:nvPr/>
        </p:nvSpPr>
        <p:spPr>
          <a:xfrm>
            <a:off x="8302752" y="2377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Topic icon" descr="Top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924" y="329916"/>
            <a:ext cx="199705" cy="199705"/>
          </a:xfrm>
          <a:prstGeom prst="rect">
            <a:avLst/>
          </a:prstGeom>
        </p:spPr>
      </p:pic>
      <p:sp>
        <p:nvSpPr>
          <p:cNvPr id="5" name="Language and tools"/>
          <p:cNvSpPr/>
          <p:nvPr/>
        </p:nvSpPr>
        <p:spPr>
          <a:xfrm>
            <a:off x="457200" y="914400"/>
            <a:ext cx="8229600" cy="804672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6" name="Language and tools tile"/>
          <p:cNvSpPr/>
          <p:nvPr/>
        </p:nvSpPr>
        <p:spPr>
          <a:xfrm>
            <a:off x="594360" y="1069848"/>
            <a:ext cx="493776" cy="493776"/>
          </a:xfrm>
          <a:prstGeom prst="roundRect">
            <a:avLst>
              <a:gd name="adj" fmla="val 1481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Image 1" descr="Language and too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07008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91440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Language and tools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3063240" y="96012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Python 3 with heapq, random, sys and time.perf_counter; Matplotlib and NumPy for the live graph windows.</a:t>
            </a:r>
            <a:endParaRPr lang="en-US" sz="1100" dirty="0"/>
          </a:p>
        </p:txBody>
      </p:sp>
      <p:sp>
        <p:nvSpPr>
          <p:cNvPr id="10" name="Data structures"/>
          <p:cNvSpPr/>
          <p:nvPr/>
        </p:nvSpPr>
        <p:spPr>
          <a:xfrm>
            <a:off x="457200" y="1856232"/>
            <a:ext cx="8229600" cy="804672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11" name="Data structures tile"/>
          <p:cNvSpPr/>
          <p:nvPr/>
        </p:nvSpPr>
        <p:spPr>
          <a:xfrm>
            <a:off x="594360" y="2011680"/>
            <a:ext cx="493776" cy="493776"/>
          </a:xfrm>
          <a:prstGeom prst="roundRect">
            <a:avLst>
              <a:gd name="adj" fmla="val 1481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2" name="Image 2" descr="Data structur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148840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1856232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Data structures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3063240" y="1901952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List of (name, cost, benefit) tuples, 2-D DP table, max-heap (heapq), recursion stack and a bitmask for the chosen set.</a:t>
            </a:r>
            <a:endParaRPr lang="en-US" sz="1100" dirty="0"/>
          </a:p>
        </p:txBody>
      </p:sp>
      <p:sp>
        <p:nvSpPr>
          <p:cNvPr id="15" name="Important functions"/>
          <p:cNvSpPr/>
          <p:nvPr/>
        </p:nvSpPr>
        <p:spPr>
          <a:xfrm>
            <a:off x="457200" y="2798064"/>
            <a:ext cx="8229600" cy="804672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16" name="Important functions tile"/>
          <p:cNvSpPr/>
          <p:nvPr/>
        </p:nvSpPr>
        <p:spPr>
          <a:xfrm>
            <a:off x="594360" y="2953512"/>
            <a:ext cx="493776" cy="493776"/>
          </a:xfrm>
          <a:prstGeom prst="roundRect">
            <a:avLst>
              <a:gd name="adj" fmla="val 1481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mage 3" descr="Important functio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09067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2798064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Important functions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3063240" y="2843784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backtracking(), greedy(), dp_table(), dynamic_programming(), branch_and_bound(), fractional_greedy_value(), run_all(), benchmark(), run_tests().</a:t>
            </a:r>
            <a:endParaRPr lang="en-US" sz="1100" dirty="0"/>
          </a:p>
        </p:txBody>
      </p:sp>
      <p:sp>
        <p:nvSpPr>
          <p:cNvPr id="20" name="Brief explanation"/>
          <p:cNvSpPr/>
          <p:nvPr/>
        </p:nvSpPr>
        <p:spPr>
          <a:xfrm>
            <a:off x="457200" y="3739896"/>
            <a:ext cx="8229600" cy="804672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21" name="Brief explanation tile"/>
          <p:cNvSpPr/>
          <p:nvPr/>
        </p:nvSpPr>
        <p:spPr>
          <a:xfrm>
            <a:off x="594360" y="3895344"/>
            <a:ext cx="493776" cy="493776"/>
          </a:xfrm>
          <a:prstGeom prst="roundRect">
            <a:avLst>
              <a:gd name="adj" fmla="val 1481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2" name="Image 4" descr="Brief explana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032504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280160" y="3739896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Brief explanation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3063240" y="3785616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Each algorithm returns (chosen, ops). run_all() times them on one input; benchmark() averages repeated runs on seeded instances (n = 10 to 500); the --test flag runs 14 checks.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82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Project Screenshots</a:t>
            </a:r>
            <a:endParaRPr lang="en-US" sz="2600" dirty="0"/>
          </a:p>
        </p:txBody>
      </p:sp>
      <p:sp>
        <p:nvSpPr>
          <p:cNvPr id="3" name="Topic badge"/>
          <p:cNvSpPr/>
          <p:nvPr/>
        </p:nvSpPr>
        <p:spPr>
          <a:xfrm>
            <a:off x="8302752" y="2377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Topic icon" descr="Top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924" y="329916"/>
            <a:ext cx="199705" cy="199705"/>
          </a:xfrm>
          <a:prstGeom prst="rect">
            <a:avLst/>
          </a:prstGeom>
        </p:spPr>
      </p:pic>
      <p:sp>
        <p:nvSpPr>
          <p:cNvPr id="5" name="Input: 12 funding requests and a total budget of Rs. 60 lakh"/>
          <p:cNvSpPr/>
          <p:nvPr/>
        </p:nvSpPr>
        <p:spPr>
          <a:xfrm>
            <a:off x="457200" y="868680"/>
            <a:ext cx="402336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pic>
        <p:nvPicPr>
          <p:cNvPr id="6" name="Image 1" descr="Input: 12 funding requests and a total budget of Rs. 60 lak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941832"/>
            <a:ext cx="3657600" cy="15243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247802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</a:rPr>
              <a:t>Input: 12 funding requests and a total budget of Rs. 60 lakh</a:t>
            </a:r>
            <a:endParaRPr lang="en-US" sz="900" dirty="0"/>
          </a:p>
        </p:txBody>
      </p:sp>
      <p:sp>
        <p:nvSpPr>
          <p:cNvPr id="8" name="Processing: all four algorithms on the same input"/>
          <p:cNvSpPr/>
          <p:nvPr/>
        </p:nvSpPr>
        <p:spPr>
          <a:xfrm>
            <a:off x="4663440" y="868680"/>
            <a:ext cx="402336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pic>
        <p:nvPicPr>
          <p:cNvPr id="9" name="Image 2" descr="Processing: all four algorithms on the same inpu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941832"/>
            <a:ext cx="3657600" cy="152430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754880" y="247802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</a:rPr>
              <a:t>Processing: all four algorithms on the same input</a:t>
            </a:r>
            <a:endParaRPr lang="en-US" sz="900" dirty="0"/>
          </a:p>
        </p:txBody>
      </p:sp>
      <p:sp>
        <p:nvSpPr>
          <p:cNvPr id="11" name="Output: optimal allocation, benefit 260 at cost 60 / 60"/>
          <p:cNvSpPr/>
          <p:nvPr/>
        </p:nvSpPr>
        <p:spPr>
          <a:xfrm>
            <a:off x="457200" y="2761488"/>
            <a:ext cx="402336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pic>
        <p:nvPicPr>
          <p:cNvPr id="12" name="Image 3" descr="Output: optimal allocation, benefit 260 at cost 60 / 6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834640"/>
            <a:ext cx="3657600" cy="15243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48640" y="437083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</a:rPr>
              <a:t>Output: optimal allocation, benefit 260 at cost 60 / 60</a:t>
            </a:r>
            <a:endParaRPr lang="en-US" sz="900" dirty="0"/>
          </a:p>
        </p:txBody>
      </p:sp>
      <p:sp>
        <p:nvSpPr>
          <p:cNvPr id="14" name="Performance: time, operations and Greedy quality vs input size"/>
          <p:cNvSpPr/>
          <p:nvPr/>
        </p:nvSpPr>
        <p:spPr>
          <a:xfrm>
            <a:off x="4663440" y="2761488"/>
            <a:ext cx="402336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pic>
        <p:nvPicPr>
          <p:cNvPr id="15" name="Image 4" descr="Performance: time, operations and Greedy quality vs input siz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2834640"/>
            <a:ext cx="3657600" cy="152430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754880" y="437083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</a:rPr>
              <a:t>Performance: time, operations and Greedy quality vs input size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82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Results</a:t>
            </a:r>
            <a:endParaRPr lang="en-US" sz="2600" dirty="0"/>
          </a:p>
        </p:txBody>
      </p:sp>
      <p:sp>
        <p:nvSpPr>
          <p:cNvPr id="3" name="Topic badge"/>
          <p:cNvSpPr/>
          <p:nvPr/>
        </p:nvSpPr>
        <p:spPr>
          <a:xfrm>
            <a:off x="8302752" y="2377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Topic icon" descr="Top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924" y="329916"/>
            <a:ext cx="199705" cy="199705"/>
          </a:xfrm>
          <a:prstGeom prst="rect">
            <a:avLst/>
          </a:prstGeom>
        </p:spPr>
      </p:pic>
      <p:graphicFrame>
        <p:nvGraphicFramePr>
          <p:cNvPr id="13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96112"/>
          <a:ext cx="4892040" cy="19202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Backtracking (ms)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Greedy (ms)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DP (ms)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B&amp;B (ms)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Greedy % of optimal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0.192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0.0038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0.129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0.024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100.00%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3.43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0.0035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0.189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0.021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100.00%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95.49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0.0035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0.362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0.040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100.00%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0.0087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3.46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0.140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99.53%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0.018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16.41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0.368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99.87%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500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0.103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381.9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6.18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100.00%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29260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accent6"/>
                </a:solidFill>
              </a:rPr>
              <a:t>Dataset: seeded random instances (cost 5 to 50, benefit 10 to 100, budget = 40% of total cost). Time is the average of repeated runs; Backtracking is skipped above n = 20 because 2^n is too large.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0" y="841248"/>
          <a:ext cx="32004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tat 1"/>
          <p:cNvSpPr/>
          <p:nvPr/>
        </p:nvSpPr>
        <p:spPr>
          <a:xfrm>
            <a:off x="457200" y="3520440"/>
            <a:ext cx="265176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9" name="Text 4"/>
          <p:cNvSpPr txBox="1"/>
          <p:nvPr/>
        </p:nvSpPr>
        <p:spPr>
          <a:xfrm>
            <a:off x="621792" y="35844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260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621792" y="406908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tx1"/>
                </a:solidFill>
              </a:rPr>
              <a:t>Optimal benefit on campus data (budget Rs. 60 lakh). Backtracking, DP and B&amp;B agree; Greedy gets 255 (98%).</a:t>
            </a:r>
            <a:endParaRPr lang="en-US" sz="950" dirty="0"/>
          </a:p>
        </p:txBody>
      </p:sp>
      <p:sp>
        <p:nvSpPr>
          <p:cNvPr id="11" name="Stat 2"/>
          <p:cNvSpPr/>
          <p:nvPr/>
        </p:nvSpPr>
        <p:spPr>
          <a:xfrm>
            <a:off x="3246120" y="3520440"/>
            <a:ext cx="265176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12" name="Text 7"/>
          <p:cNvSpPr txBox="1"/>
          <p:nvPr/>
        </p:nvSpPr>
        <p:spPr>
          <a:xfrm>
            <a:off x="3410712" y="35844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≈15,000×</a:t>
            </a:r>
            <a:endParaRPr lang="en-US" sz="2400" dirty="0"/>
          </a:p>
        </p:txBody>
      </p:sp>
      <p:sp>
        <p:nvSpPr>
          <p:cNvPr id="5" name="Text 8"/>
          <p:cNvSpPr txBox="1"/>
          <p:nvPr/>
        </p:nvSpPr>
        <p:spPr>
          <a:xfrm>
            <a:off x="3410712" y="406908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tx1"/>
                </a:solidFill>
              </a:rPr>
              <a:t>fewer operations for Branch and Bound than Backtracking at n = 20 (41 vs 620,701).</a:t>
            </a:r>
            <a:endParaRPr lang="en-US" sz="950" dirty="0"/>
          </a:p>
        </p:txBody>
      </p:sp>
      <p:sp>
        <p:nvSpPr>
          <p:cNvPr id="14" name="Stat 3"/>
          <p:cNvSpPr/>
          <p:nvPr/>
        </p:nvSpPr>
        <p:spPr>
          <a:xfrm>
            <a:off x="6035040" y="3520440"/>
            <a:ext cx="265176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6199632" y="35844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≈62×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6199632" y="406908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tx1"/>
                </a:solidFill>
              </a:rPr>
              <a:t>Branch and Bound is faster than DP at n = 500 (6.18 ms vs 381.9 ms); Greedy takes 0.103 ms.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82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Complexity Analysis</a:t>
            </a:r>
            <a:endParaRPr lang="en-US" sz="2600" dirty="0"/>
          </a:p>
        </p:txBody>
      </p:sp>
      <p:sp>
        <p:nvSpPr>
          <p:cNvPr id="3" name="Topic badge"/>
          <p:cNvSpPr/>
          <p:nvPr/>
        </p:nvSpPr>
        <p:spPr>
          <a:xfrm>
            <a:off x="8302752" y="2377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Topic icon" descr="Top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924" y="329916"/>
            <a:ext cx="199705" cy="199705"/>
          </a:xfrm>
          <a:prstGeom prst="rect">
            <a:avLst/>
          </a:prstGeom>
        </p:spPr>
      </p:pic>
      <p:graphicFrame>
        <p:nvGraphicFramePr>
          <p:cNvPr id="14" name="Complexit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96112"/>
          <a:ext cx="8229600" cy="171907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Algorithm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Best Case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Average Case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Worst Case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Space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Backtracking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O(n)  (nothing fits)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O(2^n)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O(2^n)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O(n)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Greedy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O(n log n)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O(n log n)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O(n log n)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O(n)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Dynamic Programming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O(n·W)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O(n·W)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O(n·W)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O(n·W)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Branch and Bound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O(n²)  (one path)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Far below 2^n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O(2^n)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O(2^n)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Backtracking explodes"/>
          <p:cNvSpPr/>
          <p:nvPr/>
        </p:nvSpPr>
        <p:spPr>
          <a:xfrm>
            <a:off x="457200" y="29260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7" name="Backtracking explodes badge"/>
          <p:cNvSpPr/>
          <p:nvPr/>
        </p:nvSpPr>
        <p:spPr>
          <a:xfrm>
            <a:off x="594360" y="3044952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Backtracking explodes icon" descr="Backtracking explod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" y="3132734"/>
            <a:ext cx="190195" cy="19019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51560" y="30449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Backtracking explodes</a:t>
            </a:r>
            <a:endParaRPr lang="en-US" sz="1150" dirty="0"/>
          </a:p>
        </p:txBody>
      </p:sp>
      <p:sp>
        <p:nvSpPr>
          <p:cNvPr id="10" name="Text 5"/>
          <p:cNvSpPr txBox="1"/>
          <p:nvPr/>
        </p:nvSpPr>
        <p:spPr>
          <a:xfrm>
            <a:off x="594360" y="3493008"/>
            <a:ext cx="23957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Nodes grow from 935 (n = 10) to 22,216 (n = 15) and 620,701 (n = 20): about ×24 to ×28 per 5 extra requests, in line with 2^n. Time: 0.192 ms to 95.49 ms.</a:t>
            </a:r>
            <a:endParaRPr lang="en-US" sz="1050" dirty="0"/>
          </a:p>
        </p:txBody>
      </p:sp>
      <p:sp>
        <p:nvSpPr>
          <p:cNvPr id="11" name="DP follows n × W"/>
          <p:cNvSpPr/>
          <p:nvPr/>
        </p:nvSpPr>
        <p:spPr>
          <a:xfrm>
            <a:off x="3246120" y="29260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12" name="DP follows n × W badge"/>
          <p:cNvSpPr/>
          <p:nvPr/>
        </p:nvSpPr>
        <p:spPr>
          <a:xfrm>
            <a:off x="3383280" y="30449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DP follows n × W icon" descr="DP follows n × 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1062" y="3132734"/>
            <a:ext cx="190195" cy="190195"/>
          </a:xfrm>
          <a:prstGeom prst="rect">
            <a:avLst/>
          </a:prstGeom>
        </p:spPr>
      </p:pic>
      <p:sp>
        <p:nvSpPr>
          <p:cNvPr id="5" name="Text 8"/>
          <p:cNvSpPr txBox="1"/>
          <p:nvPr/>
        </p:nvSpPr>
        <p:spPr>
          <a:xfrm>
            <a:off x="3840480" y="30449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DP follows n × W</a:t>
            </a:r>
            <a:endParaRPr lang="en-US" sz="1150" dirty="0"/>
          </a:p>
        </p:txBody>
      </p:sp>
      <p:sp>
        <p:nvSpPr>
          <p:cNvPr id="15" name="Text 9"/>
          <p:cNvSpPr txBox="1"/>
          <p:nvPr/>
        </p:nvSpPr>
        <p:spPr>
          <a:xfrm>
            <a:off x="3383280" y="3493008"/>
            <a:ext cx="23957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Operations are n(W+1) + n: 1,170 at n = 10 and 2,745,500 at n = 500. Here W grows with n (40% of total cost), so cost rises faster than linearly.</a:t>
            </a:r>
            <a:endParaRPr lang="en-US" sz="1050" dirty="0"/>
          </a:p>
        </p:txBody>
      </p:sp>
      <p:sp>
        <p:nvSpPr>
          <p:cNvPr id="16" name="Greedy and B&amp;B stay small"/>
          <p:cNvSpPr/>
          <p:nvPr/>
        </p:nvSpPr>
        <p:spPr>
          <a:xfrm>
            <a:off x="6035040" y="29260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17" name="Greedy and B&amp;B stay small badge"/>
          <p:cNvSpPr/>
          <p:nvPr/>
        </p:nvSpPr>
        <p:spPr>
          <a:xfrm>
            <a:off x="6172200" y="304495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Greedy and B&amp;B stay small icon" descr="Greedy and B&amp;B stay smal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9982" y="3132734"/>
            <a:ext cx="190195" cy="19019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629400" y="30449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Greedy and B&amp;B stay small</a:t>
            </a:r>
            <a:endParaRPr lang="en-US" sz="1150" dirty="0"/>
          </a:p>
        </p:txBody>
      </p:sp>
      <p:sp>
        <p:nvSpPr>
          <p:cNvPr id="20" name="Text 13"/>
          <p:cNvSpPr txBox="1"/>
          <p:nvPr/>
        </p:nvSpPr>
        <p:spPr>
          <a:xfrm>
            <a:off x="6172200" y="3493008"/>
            <a:ext cx="23957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Greedy needs n log n + n steps: 50 to 5,000. Branch and Bound expands only 15 to 534 nodes because pruning drops hopeless branches.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82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Advantages, Limitations and Future Scope</a:t>
            </a:r>
            <a:endParaRPr lang="en-US" sz="2600" dirty="0"/>
          </a:p>
        </p:txBody>
      </p:sp>
      <p:sp>
        <p:nvSpPr>
          <p:cNvPr id="3" name="Topic badge"/>
          <p:cNvSpPr/>
          <p:nvPr/>
        </p:nvSpPr>
        <p:spPr>
          <a:xfrm>
            <a:off x="8302752" y="2377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Topic icon" descr="Top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924" y="329916"/>
            <a:ext cx="199705" cy="199705"/>
          </a:xfrm>
          <a:prstGeom prst="rect">
            <a:avLst/>
          </a:prstGeom>
        </p:spPr>
      </p:pic>
      <p:sp>
        <p:nvSpPr>
          <p:cNvPr id="5" name="Advantages"/>
          <p:cNvSpPr/>
          <p:nvPr/>
        </p:nvSpPr>
        <p:spPr>
          <a:xfrm>
            <a:off x="457200" y="896112"/>
            <a:ext cx="2651760" cy="370332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6" name="Advantages badge"/>
          <p:cNvSpPr/>
          <p:nvPr/>
        </p:nvSpPr>
        <p:spPr>
          <a:xfrm>
            <a:off x="621792" y="100584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Advantages icon" descr="Advantag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742" y="1106790"/>
            <a:ext cx="218724" cy="21872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70432" y="100584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Advantages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621792" y="1600200"/>
            <a:ext cx="235915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Backtracking, DP and B&amp;B always return the optimal plan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Four methods compared on identical input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B&amp;B is optimal with only 534 nodes at n = 500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Greedy answers in about 0.103 ms at n = 500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14 built-in tests pass, including 200 random instances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Live graphs and a final optimal allocation graph</a:t>
            </a:r>
            <a:endParaRPr lang="en-US" sz="1150" dirty="0"/>
          </a:p>
        </p:txBody>
      </p:sp>
      <p:sp>
        <p:nvSpPr>
          <p:cNvPr id="10" name="Limitations"/>
          <p:cNvSpPr/>
          <p:nvPr/>
        </p:nvSpPr>
        <p:spPr>
          <a:xfrm>
            <a:off x="3246120" y="896112"/>
            <a:ext cx="2651760" cy="370332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11" name="Limitations badge"/>
          <p:cNvSpPr/>
          <p:nvPr/>
        </p:nvSpPr>
        <p:spPr>
          <a:xfrm>
            <a:off x="3410712" y="1005840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Limitations icon" descr="Limitatio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662" y="1106790"/>
            <a:ext cx="218724" cy="2187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959352" y="100584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Limitations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3410712" y="1600200"/>
            <a:ext cx="235915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Costs must be whole numbers (DP table index)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DP time and memory grow with the budget W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Greedy can miss the optimum (255 vs 260); about 81% in the worst random test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B&amp;B worst case is still 2^n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Backtracking skipped above n = 20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Timings depend on hardware</a:t>
            </a:r>
            <a:endParaRPr lang="en-US" sz="1150" dirty="0"/>
          </a:p>
        </p:txBody>
      </p:sp>
      <p:sp>
        <p:nvSpPr>
          <p:cNvPr id="15" name="Future Scope"/>
          <p:cNvSpPr/>
          <p:nvPr/>
        </p:nvSpPr>
        <p:spPr>
          <a:xfrm>
            <a:off x="6035040" y="896112"/>
            <a:ext cx="2651760" cy="370332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16" name="Future Scope badge"/>
          <p:cNvSpPr/>
          <p:nvPr/>
        </p:nvSpPr>
        <p:spPr>
          <a:xfrm>
            <a:off x="6199632" y="100584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Future Scope icon" descr="Future Sc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582" y="1106790"/>
            <a:ext cx="218724" cy="21872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748272" y="100584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Future Scope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6199632" y="1600200"/>
            <a:ext cx="235915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Several resource types at once (multi-dimensional knapsack)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Partial funding of a request (fractional option)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Read requests from a CSV or Excel file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Web dashboard for administrators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Test on real college budget data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82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Conclusion and References</a:t>
            </a:r>
            <a:endParaRPr lang="en-US" sz="2600" dirty="0"/>
          </a:p>
        </p:txBody>
      </p:sp>
      <p:sp>
        <p:nvSpPr>
          <p:cNvPr id="3" name="Topic badge"/>
          <p:cNvSpPr/>
          <p:nvPr/>
        </p:nvSpPr>
        <p:spPr>
          <a:xfrm>
            <a:off x="8302752" y="2377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Topic icon" descr="Top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924" y="329916"/>
            <a:ext cx="199705" cy="199705"/>
          </a:xfrm>
          <a:prstGeom prst="rect">
            <a:avLst/>
          </a:prstGeom>
        </p:spPr>
      </p:pic>
      <p:sp>
        <p:nvSpPr>
          <p:cNvPr id="5" name="Conclusion card"/>
          <p:cNvSpPr/>
          <p:nvPr/>
        </p:nvSpPr>
        <p:spPr>
          <a:xfrm>
            <a:off x="457200" y="896112"/>
            <a:ext cx="4754880" cy="3703320"/>
          </a:xfrm>
          <a:prstGeom prst="roundRect">
            <a:avLst>
              <a:gd name="adj" fmla="val 1975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9875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17320"/>
            <a:ext cx="4389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Modelled resource allocation as a 0/1 knapsack (cost, benefit, budget W) and implemented Backtracking, Greedy, DP and Branch and Bound.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Key finding: the three exact methods always agree (benefit 260 at cost 60/60 on campus data, verified on 200 random instances). Greedy reached 255, about 98% of the optimum on average and as low as 81%.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Branch and Bound gives the best balance: optimal with 534 nodes at n = 500, about 62× faster than DP. Backtracking is impractical beyond about 20 requests.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Recommendation: use Branch and Bound or DP when the optimum is required; use Greedy for a very quick estimate.</a:t>
            </a:r>
            <a:endParaRPr lang="en-US" sz="1200" dirty="0"/>
          </a:p>
        </p:txBody>
      </p:sp>
      <p:sp>
        <p:nvSpPr>
          <p:cNvPr id="8" name="References card"/>
          <p:cNvSpPr/>
          <p:nvPr/>
        </p:nvSpPr>
        <p:spPr>
          <a:xfrm>
            <a:off x="5394960" y="896112"/>
            <a:ext cx="3291840" cy="370332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183249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577840" y="9875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141732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Cormen, Leiserson, Rivest, Stein: Introduction to Algorithms (CLRS), MIT Press. Greedy and dynamic programming chapters.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Kleinberg and Tardos: Algorithm Design, Pearson.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Horowitz and Sahni: Fundamentals of Computer Algorithms (backtracking, branch and bound).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Python documentation: heapq, time, random.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Matplotlib and NumPy documentation.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Data: campus funding requests and seeded random instances from the project code.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IT DAA">
  <a:themeElements>
    <a:clrScheme name="ADIT DAA">
      <a:dk1>
        <a:srgbClr val="1F2D3D"/>
      </a:dk1>
      <a:lt1>
        <a:srgbClr val="FFFFFF"/>
      </a:lt1>
      <a:dk2>
        <a:srgbClr val="183249"/>
      </a:dk2>
      <a:lt2>
        <a:srgbClr val="EEF3F6"/>
      </a:lt2>
      <a:accent1>
        <a:srgbClr val="1E8F7E"/>
      </a:accent1>
      <a:accent2>
        <a:srgbClr val="E8A33D"/>
      </a:accent2>
      <a:accent3>
        <a:srgbClr val="C8553D"/>
      </a:accent3>
      <a:accent4>
        <a:srgbClr val="3F6E8F"/>
      </a:accent4>
      <a:accent5>
        <a:srgbClr val="CBD5DD"/>
      </a:accent5>
      <a:accent6>
        <a:srgbClr val="5C6B7A"/>
      </a:accent6>
      <a:hlink>
        <a:srgbClr val="2E5673"/>
      </a:hlink>
      <a:folHlink>
        <a:srgbClr val="5C6B7A"/>
      </a:folHlink>
    </a:clrScheme>
    <a:fontScheme name="ADIT DA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2634</Words>
  <Application>Microsoft Office PowerPoint</Application>
  <PresentationFormat>On-screen Show (16:9)</PresentationFormat>
  <Paragraphs>349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ADIT DAA</vt:lpstr>
      <vt:lpstr>Resource Allocation Optimization System</vt:lpstr>
      <vt:lpstr>Problem Statement</vt:lpstr>
      <vt:lpstr>Motivation and Real-World Application</vt:lpstr>
      <vt:lpstr>Objectives</vt:lpstr>
      <vt:lpstr>Existing Approach and Background</vt:lpstr>
      <vt:lpstr>Proposed Approach (Solution Flow)</vt:lpstr>
      <vt:lpstr>Algorithms Used</vt:lpstr>
      <vt:lpstr>Algorithm / Pseudocode</vt:lpstr>
      <vt:lpstr>System Design / Architecture</vt:lpstr>
      <vt:lpstr>Implementation</vt:lpstr>
      <vt:lpstr>Project Screenshots</vt:lpstr>
      <vt:lpstr>Results</vt:lpstr>
      <vt:lpstr>Complexity Analysis</vt:lpstr>
      <vt:lpstr>Advantages, Limitations and Future Scope</vt:lpstr>
      <vt:lpstr>Conclusion and References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Resource Allocation Optimization System</dc:title>
  <dc:subject>PptxGenJS Presentation</dc:subject>
  <dc:creator>Group 12</dc:creator>
  <cp:lastModifiedBy>Sahil Kshatriya</cp:lastModifiedBy>
  <cp:revision>1</cp:revision>
  <dcterms:created xsi:type="dcterms:W3CDTF">2026-10-25T16:05:42Z</dcterms:created>
  <dcterms:modified xsi:type="dcterms:W3CDTF">2026-10-25T16:10:07Z</dcterms:modified>
</cp:coreProperties>
</file>